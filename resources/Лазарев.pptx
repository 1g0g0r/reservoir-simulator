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5" r:id="rId10"/>
    <p:sldId id="264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8" d="100"/>
          <a:sy n="78" d="100"/>
        </p:scale>
        <p:origin x="778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450368-000C-47E2-A902-B28A58F80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700B9F-4849-484D-A0BC-3F02E5470A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E66F37-4DB5-4BA5-8551-A8956D3FE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07BB31-61AE-4310-9CA7-5941C5901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7ACA1E-18ED-4A2B-9A6E-6D115B1A9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5038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ADF25-CCDD-411C-9E52-07246F07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F1F1078-61E8-401F-B7DE-7E2B1F151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8B0652-BFA1-445A-A08A-6EFD5D82F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344D6F-084F-48A0-B776-A32AFFAC2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45CD3A-9CC1-4427-8F3A-ECEAA0ED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0694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CCEDAF-F769-4C5A-973A-E8409F93C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97B6B8-24B6-41F2-AD5F-A14EEE446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163B68-BF62-47B9-87CD-0421527E2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D25726-E131-48DB-A867-97529FB04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4F1D09-4EE6-4AC3-BFF7-3C4582057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6528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D7AB6B-90A8-461F-842E-933057B7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9F4D25-76A4-48AB-8368-50FFFECACD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818B7B8-B473-4867-8C46-623F5E016D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59619F-32AC-4345-9546-FE5EE3077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506E5A4-6AE2-4C66-A17B-7D94DCEE3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A5B0914-98BD-4C6D-9289-1C59CB5CB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5444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92CAEA-04EA-43C1-A452-478DFEF95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D98038-0B89-4F31-89CD-F276326F0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CA124F8-F8A2-4323-A781-D959FDF18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D51F8BC-340A-4E10-A072-C4081DC3AD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46B0835-6E14-435A-B8A4-EED6755BCB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5EFC76E-D27F-47EB-AB15-3FB0FE0EE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956AED7-AF55-4F34-B428-C7EB16AD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B181FF9-B923-46FB-AA32-5FAF0CDE9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8795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35D6DB-A0A1-46E4-A1CE-1F5C29C1C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7D2DCB5-3064-4044-8219-2D182E5D7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B02C71-F02C-4379-B390-6C1BACDA0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BC6CC28-8797-4245-8EDD-BFBF0BD72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32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23903A9-FA8A-44D1-940F-39399142F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E07AFE3-3B32-4331-927D-11FE4CB6A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0B81B8-600F-4532-9D71-779F38D6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9462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E6440E-5BBC-40A9-9561-B8F16B736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9B394D-44E9-482B-8E33-407FA619F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941D6DB-16F1-4E38-B325-ED377704F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58DFC42-46F2-40DC-886B-BACDE270E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2DADB3E-65DA-4A18-AFF0-4DCB2544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F8C686-B7E4-4B78-853F-71230F93A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381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382127-B4AC-4DCC-9A8E-5BA9E42AE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FDBB1C-A648-4370-8F70-73172E013A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7B2545B-982E-4B66-A0DB-A827D6ABD7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04460B-4741-4A4A-8100-CB39BBE8A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B8193B3-E58A-4BB4-A23F-11196EE60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B9022B4-24A4-468B-A6EA-D55624BA1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473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F5009C-61F4-4116-98D3-2FCBD574E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6D0A56C-F4C7-491A-863C-ED71D2272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6CAA7C-48FF-40D0-A2B4-2780FAE90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8A35A8-34C1-463C-885C-B774BCD03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90C8A3-1E2D-47F4-BFD1-40A5CBC35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191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AC2E4B2-09E6-4C9A-8458-AC43916B16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6F9EB58-7A1F-4F8F-B3BC-56D6711E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86B4A5-82B7-4C5B-BC7F-949C5EEC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BA64F0C-0D7D-4405-A097-CB97B5EC6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A51A2F-BF9E-40D5-9B5B-E6E18588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4999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10E971-5090-49D4-A670-42264ACBC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659EA9-6BA1-4692-8BA0-F76249BEDC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A04FE99-F162-4CA1-8BB5-5632148C0E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F2420A-8A13-49D6-BFC1-3E3D3B647068}" type="datetimeFigureOut">
              <a:rPr lang="ru-RU" smtClean="0"/>
              <a:t>04.07.2025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CACC81-054E-49F0-A5BA-B80655084E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8C60DC-2525-4AC5-81C9-8838D7698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6478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2">
            <a:extLst>
              <a:ext uri="{FF2B5EF4-FFF2-40B4-BE49-F238E27FC236}">
                <a16:creationId xmlns:a16="http://schemas.microsoft.com/office/drawing/2014/main" id="{F710CE3B-4A80-428D-85C4-BBF9301CEF04}"/>
              </a:ext>
            </a:extLst>
          </p:cNvPr>
          <p:cNvSpPr>
            <a:spLocks noGrp="1"/>
          </p:cNvSpPr>
          <p:nvPr/>
        </p:nvSpPr>
        <p:spPr>
          <a:xfrm>
            <a:off x="369544" y="1004562"/>
            <a:ext cx="10888391" cy="196570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5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Численное моделирование отложения парафина при добыче нефти закачкой холодной воды</a:t>
            </a:r>
            <a:endParaRPr lang="ru-RU" sz="4800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9E6E761A-74BB-45F0-B36D-C15BA7AA4076}"/>
              </a:ext>
            </a:extLst>
          </p:cNvPr>
          <p:cNvSpPr txBox="1">
            <a:spLocks/>
          </p:cNvSpPr>
          <p:nvPr/>
        </p:nvSpPr>
        <p:spPr>
          <a:xfrm>
            <a:off x="6096000" y="3739789"/>
            <a:ext cx="6130636" cy="29854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dirty="0"/>
              <a:t>Выполнил:</a:t>
            </a:r>
          </a:p>
          <a:p>
            <a:pPr marL="1076325"/>
            <a:r>
              <a:rPr lang="ru-RU" sz="2800" dirty="0"/>
              <a:t>студент 2 курса Лазарев И.С.</a:t>
            </a:r>
          </a:p>
          <a:p>
            <a:pPr marL="1076325"/>
            <a:endParaRPr lang="ru-RU" sz="2800" dirty="0"/>
          </a:p>
          <a:p>
            <a:r>
              <a:rPr lang="ru-RU" sz="2800" dirty="0"/>
              <a:t>Научный руководитель:</a:t>
            </a:r>
          </a:p>
          <a:p>
            <a:pPr indent="1076325"/>
            <a:r>
              <a:rPr lang="ru-RU" sz="2800" dirty="0">
                <a:solidFill>
                  <a:srgbClr val="000000"/>
                </a:solidFill>
                <a:effectLst/>
                <a:ea typeface="Times New Roman" panose="02020603050405020304" pitchFamily="18" charset="0"/>
              </a:rPr>
              <a:t>д.ф.-м.н. Никифоров А. И.</a:t>
            </a:r>
            <a:endParaRPr lang="ru-RU" sz="2800" dirty="0">
              <a:effectLst/>
              <a:ea typeface="Times New Roman" panose="02020603050405020304" pitchFamily="18" charset="0"/>
            </a:endParaRPr>
          </a:p>
          <a:p>
            <a:pPr marL="88900"/>
            <a:r>
              <a:rPr lang="ru-RU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44148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BF5AC0-4FA4-4300-B77D-EF8515280CDF}"/>
              </a:ext>
            </a:extLst>
          </p:cNvPr>
          <p:cNvSpPr txBox="1">
            <a:spLocks/>
          </p:cNvSpPr>
          <p:nvPr/>
        </p:nvSpPr>
        <p:spPr>
          <a:xfrm>
            <a:off x="444651" y="562831"/>
            <a:ext cx="6636054" cy="92184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C7080349-B165-433D-88F5-ABDB2354CFC3}"/>
              </a:ext>
            </a:extLst>
          </p:cNvPr>
          <p:cNvSpPr txBox="1">
            <a:spLocks/>
          </p:cNvSpPr>
          <p:nvPr/>
        </p:nvSpPr>
        <p:spPr>
          <a:xfrm>
            <a:off x="480931" y="3920884"/>
            <a:ext cx="3414510" cy="533466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Граничные условия: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700099-36AF-4C5C-B1FD-E18364AF4630}"/>
              </a:ext>
            </a:extLst>
          </p:cNvPr>
          <p:cNvSpPr txBox="1">
            <a:spLocks/>
          </p:cNvSpPr>
          <p:nvPr/>
        </p:nvSpPr>
        <p:spPr>
          <a:xfrm>
            <a:off x="480931" y="1975209"/>
            <a:ext cx="3414510" cy="533466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Начальные условия:</a:t>
            </a: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D54F3FD0-914C-4A60-B5D1-7F3C8E55349F}"/>
              </a:ext>
            </a:extLst>
          </p:cNvPr>
          <p:cNvGrpSpPr/>
          <p:nvPr/>
        </p:nvGrpSpPr>
        <p:grpSpPr>
          <a:xfrm>
            <a:off x="5346426" y="323973"/>
            <a:ext cx="6762081" cy="5058235"/>
            <a:chOff x="5346426" y="323973"/>
            <a:chExt cx="6762081" cy="5058235"/>
          </a:xfrm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13CACFCB-4507-4BB0-8FEF-36A9E0B941EE}"/>
                </a:ext>
              </a:extLst>
            </p:cNvPr>
            <p:cNvGrpSpPr/>
            <p:nvPr/>
          </p:nvGrpSpPr>
          <p:grpSpPr>
            <a:xfrm>
              <a:off x="6081466" y="2181499"/>
              <a:ext cx="219852" cy="1785039"/>
              <a:chOff x="5289755" y="2310581"/>
              <a:chExt cx="585449" cy="1759974"/>
            </a:xfrm>
          </p:grpSpPr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120E081E-28B1-4D4F-AB85-3118A87DCFC1}"/>
                  </a:ext>
                </a:extLst>
              </p:cNvPr>
              <p:cNvSpPr/>
              <p:nvPr/>
            </p:nvSpPr>
            <p:spPr>
              <a:xfrm>
                <a:off x="5289755" y="2310581"/>
                <a:ext cx="560439" cy="175997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8C7A43A8-FFF1-4C63-BBFB-23321F67BB15}"/>
                  </a:ext>
                </a:extLst>
              </p:cNvPr>
              <p:cNvSpPr/>
              <p:nvPr/>
            </p:nvSpPr>
            <p:spPr>
              <a:xfrm>
                <a:off x="5541399" y="2525227"/>
                <a:ext cx="333805" cy="10758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19A6CEFA-11B7-4EBF-9724-DE4E5A6C6C0D}"/>
                </a:ext>
              </a:extLst>
            </p:cNvPr>
            <p:cNvGrpSpPr/>
            <p:nvPr/>
          </p:nvGrpSpPr>
          <p:grpSpPr>
            <a:xfrm>
              <a:off x="5441007" y="323973"/>
              <a:ext cx="6667500" cy="5000625"/>
              <a:chOff x="5441007" y="323973"/>
              <a:chExt cx="6667500" cy="5000625"/>
            </a:xfrm>
          </p:grpSpPr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E5AB0850-2ED5-4E94-BEC2-26E84F2799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441007" y="323973"/>
                <a:ext cx="6667500" cy="5000625"/>
              </a:xfrm>
              <a:prstGeom prst="rect">
                <a:avLst/>
              </a:prstGeom>
            </p:spPr>
          </p:pic>
          <p:grpSp>
            <p:nvGrpSpPr>
              <p:cNvPr id="12" name="Группа 11">
                <a:extLst>
                  <a:ext uri="{FF2B5EF4-FFF2-40B4-BE49-F238E27FC236}">
                    <a16:creationId xmlns:a16="http://schemas.microsoft.com/office/drawing/2014/main" id="{31C614EF-E377-43AF-AC16-E7F5AC7E2284}"/>
                  </a:ext>
                </a:extLst>
              </p:cNvPr>
              <p:cNvGrpSpPr/>
              <p:nvPr/>
            </p:nvGrpSpPr>
            <p:grpSpPr>
              <a:xfrm>
                <a:off x="5967984" y="2200906"/>
                <a:ext cx="323242" cy="1765634"/>
                <a:chOff x="5314087" y="2260243"/>
                <a:chExt cx="860767" cy="1740841"/>
              </a:xfrm>
            </p:grpSpPr>
            <p:sp>
              <p:nvSpPr>
                <p:cNvPr id="13" name="Прямоугольник 12">
                  <a:extLst>
                    <a:ext uri="{FF2B5EF4-FFF2-40B4-BE49-F238E27FC236}">
                      <a16:creationId xmlns:a16="http://schemas.microsoft.com/office/drawing/2014/main" id="{E12D4658-DACB-483B-87F2-15C4FB25946D}"/>
                    </a:ext>
                  </a:extLst>
                </p:cNvPr>
                <p:cNvSpPr/>
                <p:nvPr/>
              </p:nvSpPr>
              <p:spPr>
                <a:xfrm>
                  <a:off x="5314087" y="2260243"/>
                  <a:ext cx="860767" cy="174084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4" name="Прямоугольник 13">
                  <a:extLst>
                    <a:ext uri="{FF2B5EF4-FFF2-40B4-BE49-F238E27FC236}">
                      <a16:creationId xmlns:a16="http://schemas.microsoft.com/office/drawing/2014/main" id="{656D9974-1142-49FB-9DD9-9B42859C6279}"/>
                    </a:ext>
                  </a:extLst>
                </p:cNvPr>
                <p:cNvSpPr/>
                <p:nvPr/>
              </p:nvSpPr>
              <p:spPr>
                <a:xfrm>
                  <a:off x="5541399" y="2525227"/>
                  <a:ext cx="333805" cy="107583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  <p:grpSp>
            <p:nvGrpSpPr>
              <p:cNvPr id="18" name="Группа 17">
                <a:extLst>
                  <a:ext uri="{FF2B5EF4-FFF2-40B4-BE49-F238E27FC236}">
                    <a16:creationId xmlns:a16="http://schemas.microsoft.com/office/drawing/2014/main" id="{6DB9A325-39A6-455A-8F18-C4B9B71A50CC}"/>
                  </a:ext>
                </a:extLst>
              </p:cNvPr>
              <p:cNvGrpSpPr/>
              <p:nvPr/>
            </p:nvGrpSpPr>
            <p:grpSpPr>
              <a:xfrm>
                <a:off x="6106297" y="1751469"/>
                <a:ext cx="219852" cy="1785039"/>
                <a:chOff x="5289755" y="2310581"/>
                <a:chExt cx="585449" cy="1759974"/>
              </a:xfrm>
            </p:grpSpPr>
            <p:sp>
              <p:nvSpPr>
                <p:cNvPr id="19" name="Прямоугольник 18">
                  <a:extLst>
                    <a:ext uri="{FF2B5EF4-FFF2-40B4-BE49-F238E27FC236}">
                      <a16:creationId xmlns:a16="http://schemas.microsoft.com/office/drawing/2014/main" id="{213045EB-8F82-45B1-B078-9AEF357A0EF8}"/>
                    </a:ext>
                  </a:extLst>
                </p:cNvPr>
                <p:cNvSpPr/>
                <p:nvPr/>
              </p:nvSpPr>
              <p:spPr>
                <a:xfrm>
                  <a:off x="5289755" y="2310581"/>
                  <a:ext cx="560439" cy="175997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20" name="Прямоугольник 19">
                  <a:extLst>
                    <a:ext uri="{FF2B5EF4-FFF2-40B4-BE49-F238E27FC236}">
                      <a16:creationId xmlns:a16="http://schemas.microsoft.com/office/drawing/2014/main" id="{ECF3405F-FC2A-424D-BA3B-72ABFEBD75B4}"/>
                    </a:ext>
                  </a:extLst>
                </p:cNvPr>
                <p:cNvSpPr/>
                <p:nvPr/>
              </p:nvSpPr>
              <p:spPr>
                <a:xfrm>
                  <a:off x="5541399" y="2525227"/>
                  <a:ext cx="333805" cy="107583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7F6046FE-C5FA-4565-AA25-7C8FB8F73E1D}"/>
                </a:ext>
              </a:extLst>
            </p:cNvPr>
            <p:cNvSpPr/>
            <p:nvPr/>
          </p:nvSpPr>
          <p:spPr>
            <a:xfrm>
              <a:off x="5876854" y="2235970"/>
              <a:ext cx="323242" cy="17850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1337AA97-8C1A-4F99-8A64-27978DA85F48}"/>
                </a:ext>
              </a:extLst>
            </p:cNvPr>
            <p:cNvSpPr/>
            <p:nvPr/>
          </p:nvSpPr>
          <p:spPr>
            <a:xfrm>
              <a:off x="5346426" y="3597169"/>
              <a:ext cx="323242" cy="17850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64645-C7A5-48BD-8FC8-A0DDEFB06298}"/>
                  </a:ext>
                </a:extLst>
              </p:cNvPr>
              <p:cNvSpPr txBox="1"/>
              <p:nvPr/>
            </p:nvSpPr>
            <p:spPr>
              <a:xfrm>
                <a:off x="300920" y="2696756"/>
                <a:ext cx="5029200" cy="4654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ru-RU" sz="2000" i="1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&gt;0:  </m:t>
                      </m:r>
                      <m:sSub>
                        <m:sSubPr>
                          <m:ctrlPr>
                            <a:rPr lang="ru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sz="20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𝑝𝑠</m:t>
                          </m:r>
                        </m:sub>
                      </m:sSub>
                      <m:r>
                        <a:rPr lang="ru-RU" sz="2000">
                          <a:latin typeface="Cambria Math" panose="02040503050406030204" pitchFamily="18" charset="0"/>
                        </a:rPr>
                        <m:t>=0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ru-RU" sz="200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  <m:sub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64645-C7A5-48BD-8FC8-A0DDEFB06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920" y="2696756"/>
                <a:ext cx="5029200" cy="465448"/>
              </a:xfrm>
              <a:prstGeom prst="rect">
                <a:avLst/>
              </a:prstGeom>
              <a:blipFill>
                <a:blip r:embed="rId4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81BA4E-6A60-4401-BC0E-D99CE332D5C9}"/>
                  </a:ext>
                </a:extLst>
              </p:cNvPr>
              <p:cNvSpPr txBox="1"/>
              <p:nvPr/>
            </p:nvSpPr>
            <p:spPr>
              <a:xfrm>
                <a:off x="480931" y="4435181"/>
                <a:ext cx="6096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&gt;0: 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=0, 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r>
                  <a:rPr lang="ru-RU" sz="2000" dirty="0"/>
                  <a:t>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81BA4E-6A60-4401-BC0E-D99CE332D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931" y="4435181"/>
                <a:ext cx="6096000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324BDE-088B-4D81-9885-07FEF749AA66}"/>
                  </a:ext>
                </a:extLst>
              </p:cNvPr>
              <p:cNvSpPr txBox="1"/>
              <p:nvPr/>
            </p:nvSpPr>
            <p:spPr>
              <a:xfrm>
                <a:off x="480931" y="4923825"/>
                <a:ext cx="6096000" cy="7116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ru-RU" sz="2000" b="1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&gt;0: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=1,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&gt;0: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 .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                    </m:t>
                            </m:r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324BDE-088B-4D81-9885-07FEF749A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931" y="4923825"/>
                <a:ext cx="6096000" cy="7116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005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0E0279-9D5E-4BDF-9E9E-C9DD9B1EF355}"/>
              </a:ext>
            </a:extLst>
          </p:cNvPr>
          <p:cNvSpPr txBox="1">
            <a:spLocks/>
          </p:cNvSpPr>
          <p:nvPr/>
        </p:nvSpPr>
        <p:spPr>
          <a:xfrm>
            <a:off x="503645" y="474340"/>
            <a:ext cx="6636054" cy="192317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Законы сохранения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6A890B-8C15-42D5-819D-6F5036C7C1D2}"/>
                  </a:ext>
                </a:extLst>
              </p:cNvPr>
              <p:cNvSpPr txBox="1"/>
              <p:nvPr/>
            </p:nvSpPr>
            <p:spPr>
              <a:xfrm>
                <a:off x="411806" y="1669013"/>
                <a:ext cx="11658273" cy="38520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</a:t>
                </a:r>
                <a:r>
                  <a:rPr lang="ru-RU" sz="2200" b="1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</m:num>
                      <m:den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𝑡</m:t>
                        </m:r>
                      </m:den>
                    </m:f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(</m:t>
                    </m:r>
                    <m:r>
                      <a:rPr lang="en-US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𝑚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𝑆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)+</m:t>
                    </m:r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sSub>
                      <m:sSubPr>
                        <m:ctrlPr>
                          <a:rPr lang="ru-RU" sz="22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𝑼</m:t>
                        </m:r>
                      </m:e>
                      <m:sub>
                        <m:r>
                          <a:rPr lang="en-US" sz="22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𝒘</m:t>
                        </m:r>
                      </m:sub>
                    </m:sSub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)=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𝑞</m:t>
                        </m:r>
                      </m:e>
                      <m:sub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Закон сохранения массы воды</a:t>
                </a: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</m:num>
                      <m:den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𝑡</m:t>
                        </m:r>
                      </m:den>
                    </m:f>
                    <m:d>
                      <m:d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2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𝑚</m:t>
                        </m:r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</m:e>
                    </m:d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+</m:t>
                    </m:r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d>
                      <m:d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22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22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𝒐</m:t>
                            </m:r>
                          </m:sub>
                        </m:sSub>
                      </m:e>
                    </m:d>
                    <m:r>
                      <a:rPr lang="ru-RU" sz="2200" b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=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𝑞</m:t>
                        </m:r>
                      </m:e>
                      <m:sub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𝑜</m:t>
                        </m:r>
                      </m:sub>
                    </m:sSub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𝑜</m:t>
                        </m:r>
                      </m:sub>
                    </m:sSub>
                    <m:r>
                      <a:rPr lang="en-US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Закон сохранения массы нефти</a:t>
                </a:r>
                <a:endParaRPr lang="en-US" sz="2000" b="1" i="1" dirty="0"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ru-RU" sz="17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𝑡</m:t>
                        </m:r>
                      </m:den>
                    </m:f>
                    <m:d>
                      <m:d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𝑝𝑠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</m:e>
                    </m:d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d>
                      <m:d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𝑝𝑠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b="1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𝒐</m:t>
                            </m:r>
                          </m:sub>
                        </m:sSub>
                        <m:r>
                          <a:rPr lang="ru-RU" sz="17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b="1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𝒐</m:t>
                            </m:r>
                          </m:sub>
                        </m:sSub>
                      </m:e>
                    </m:d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b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sSub>
                      <m:sSub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b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𝑜</m:t>
                        </m:r>
                      </m:sub>
                    </m:sSub>
                    <m:d>
                      <m:d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ru-RU" sz="17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7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ru-RU" sz="17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𝑝𝑠</m:t>
                                </m:r>
                              </m:sub>
                            </m:s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1700" b="1" i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00" i="1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17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Закон сохранения массы парафина</a:t>
                </a: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+(1−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17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700" i="1">
                        <a:latin typeface="Cambria Math" panose="02040503050406030204" pitchFamily="18" charset="0"/>
                      </a:rPr>
                      <m:t>𝛻</m:t>
                    </m:r>
                    <m:d>
                      <m:dPr>
                        <m:begChr m:val="["/>
                        <m:endChr m:val="]"/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𝑇</m:t>
                        </m:r>
                        <m:sSub>
                          <m:sSubPr>
                            <m:ctrlPr>
                              <a:rPr lang="ru-RU" sz="17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1" i="1" smtClean="0">
                                <a:latin typeface="Cambria Math" panose="02040503050406030204" pitchFamily="18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1700" b="1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𝜶</m:t>
                            </m:r>
                          </m:sub>
                        </m:sSub>
                      </m:e>
                    </m:d>
                    <m:r>
                      <a:rPr lang="ru-RU" sz="17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7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sSub>
                      <m:sSubPr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sSub>
                      <m:sSubPr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7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17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700" i="1">
                        <a:latin typeface="Cambria Math" panose="02040503050406030204" pitchFamily="18" charset="0"/>
                      </a:rPr>
                      <m:t>𝛻</m:t>
                    </m:r>
                    <m:d>
                      <m:dPr>
                        <m:begChr m:val="["/>
                        <m:endChr m:val="]"/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ru-RU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</m:sub>
                            </m:sSub>
                            <m:r>
                              <a:rPr lang="ru-RU" sz="17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ru-RU" sz="17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ru-RU" sz="17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ru-RU" sz="17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ru-RU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𝛻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170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Закон сохранения энергии</a:t>
                </a:r>
                <a:endParaRPr lang="en-US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:r>
                  <a:rPr lang="ru-RU" sz="16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𝑼</m:t>
                        </m:r>
                      </m:e>
                      <m:sub>
                        <m:r>
                          <a:rPr lang="en-US" sz="1800" b="1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𝜶</m:t>
                        </m:r>
                      </m:sub>
                    </m:sSub>
                    <m:r>
                      <a:rPr lang="ru-RU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800" i="1"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</m:t>
                    </m:r>
                    <m:r>
                      <a:rPr lang="en-US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𝑘</m:t>
                    </m:r>
                    <m:f>
                      <m:f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ru-RU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</m:den>
                    </m:f>
                    <m:r>
                      <a:rPr lang="en-US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   </m:t>
                    </m:r>
                    <m:r>
                      <a:rPr lang="ru-RU" sz="1800"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где</m:t>
                    </m:r>
                    <m:r>
                      <a:rPr lang="ru-RU" sz="18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ru-RU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𝑜</m:t>
                    </m:r>
                    <m:r>
                      <a:rPr lang="ru-RU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sz="1800" b="1" dirty="0"/>
                  <a:t>  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1800" dirty="0"/>
                  <a:t> Закон Дарси</a:t>
                </a:r>
                <a:endParaRPr lang="en-US" sz="1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6A890B-8C15-42D5-819D-6F5036C7C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806" y="1669013"/>
                <a:ext cx="11658273" cy="385208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7" name="Picture 16077">
            <a:extLst>
              <a:ext uri="{FF2B5EF4-FFF2-40B4-BE49-F238E27FC236}">
                <a16:creationId xmlns:a16="http://schemas.microsoft.com/office/drawing/2014/main" id="{D3055804-D338-40FB-B002-B044BEC871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390" y="1157833"/>
            <a:ext cx="3203689" cy="2479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3294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7242B4-E6E1-483D-BD37-E3E1824D3513}"/>
              </a:ext>
            </a:extLst>
          </p:cNvPr>
          <p:cNvSpPr txBox="1">
            <a:spLocks/>
          </p:cNvSpPr>
          <p:nvPr/>
        </p:nvSpPr>
        <p:spPr>
          <a:xfrm>
            <a:off x="841219" y="432717"/>
            <a:ext cx="9299116" cy="84744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пористой среды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772C1C-4281-4E3D-BEE6-C15E5B06D135}"/>
              </a:ext>
            </a:extLst>
          </p:cNvPr>
          <p:cNvSpPr txBox="1"/>
          <p:nvPr/>
        </p:nvSpPr>
        <p:spPr>
          <a:xfrm>
            <a:off x="221459" y="1590484"/>
            <a:ext cx="11493021" cy="3147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tabLst>
                <a:tab pos="5904865" algn="r"/>
                <a:tab pos="990600" algn="l"/>
              </a:tabLst>
            </a:pPr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простоты будем использовать следующие допущения: </a:t>
            </a: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капилляров отношение радиуса горла к радиусу канала одинаково и сохраняется в процессе кольматации частиц;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Частицы парафина имеют шарообразную форму одинакового размера;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Количество оседающих частиц пропорционально их долям в движущейся фазе;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Капилляр полностью блокируется при попадании частиц, если характерный размер частиц не меньше диаметра горловины,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Собственная пористость осевших частиц пренебрежимо мала по сравнению с пористостью пласта;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Суффози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я частиц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пренебрегается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41A5E79-9E49-4F02-8DF3-B98C6BD079E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5" t="27675" r="37549" b="17606"/>
          <a:stretch/>
        </p:blipFill>
        <p:spPr>
          <a:xfrm>
            <a:off x="6197311" y="4518437"/>
            <a:ext cx="5517169" cy="200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289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7242B4-E6E1-483D-BD37-E3E1824D3513}"/>
              </a:ext>
            </a:extLst>
          </p:cNvPr>
          <p:cNvSpPr txBox="1">
            <a:spLocks/>
          </p:cNvSpPr>
          <p:nvPr/>
        </p:nvSpPr>
        <p:spPr>
          <a:xfrm>
            <a:off x="841219" y="432717"/>
            <a:ext cx="9299116" cy="84744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пористой среды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86832A-3EA1-41CE-B4EB-D47C165410B9}"/>
                  </a:ext>
                </a:extLst>
              </p:cNvPr>
              <p:cNvSpPr txBox="1"/>
              <p:nvPr/>
            </p:nvSpPr>
            <p:spPr>
              <a:xfrm>
                <a:off x="248920" y="2211804"/>
                <a:ext cx="5196840" cy="11640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ru-RU" smtClean="0"/>
                      <m:t>Скорость</m:t>
                    </m:r>
                    <m:r>
                      <a:rPr lang="ru-RU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с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ужения порового канала:</a:t>
                </a:r>
                <a:endParaRPr lang="ru-RU" i="1" dirty="0">
                  <a:effectLst/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𝑝𝑠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ru-RU" i="1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8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ru-RU" sz="18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  <m:sub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ru-RU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𝐷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𝑟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86832A-3EA1-41CE-B4EB-D47C16541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920" y="2211804"/>
                <a:ext cx="5196840" cy="1164037"/>
              </a:xfrm>
              <a:prstGeom prst="rect">
                <a:avLst/>
              </a:prstGeom>
              <a:blipFill>
                <a:blip r:embed="rId3"/>
                <a:stretch>
                  <a:fillRect l="-235" t="-31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5D536AA-84F6-4A9E-87C0-0FAFFBAEE5BE}"/>
                  </a:ext>
                </a:extLst>
              </p:cNvPr>
              <p:cNvSpPr txBox="1"/>
              <p:nvPr/>
            </p:nvSpPr>
            <p:spPr>
              <a:xfrm>
                <a:off x="-1239520" y="4116225"/>
                <a:ext cx="7025640" cy="1671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ru-RU" smtClean="0"/>
                        <m:t>Скорость блокирования</m:t>
                      </m:r>
                      <m:r>
                        <m:rPr>
                          <m:nor/>
                        </m:rPr>
                        <a:rPr lang="ru-RU" b="0" i="0" smtClean="0"/>
                        <m:t> </m:t>
                      </m:r>
                      <m:r>
                        <m:rPr>
                          <m:nor/>
                        </m:rPr>
                        <a:rPr lang="ru-RU" dirty="0">
                          <a:latin typeface="Times New Roman" panose="02020603050405020304" pitchFamily="18" charset="0"/>
                          <a:ea typeface="Calibri" panose="020F0502020204030204" pitchFamily="34" charset="0"/>
                        </a:rPr>
                        <m:t>порового канала</m:t>
                      </m:r>
                      <m:r>
                        <m:rPr>
                          <m:nor/>
                        </m:rPr>
                        <a:rPr lang="ru-RU" b="0" i="1" dirty="0" smtClean="0">
                          <a:latin typeface="Times New Roman" panose="02020603050405020304" pitchFamily="18" charset="0"/>
                          <a:ea typeface="Calibri" panose="020F0502020204030204" pitchFamily="34" charset="0"/>
                        </a:rPr>
                        <m:t>:</m:t>
                      </m:r>
                    </m:oMath>
                  </m:oMathPara>
                </a14:m>
                <a:endParaRPr lang="ru-RU" b="0" i="1" dirty="0">
                  <a:latin typeface="Cambria Math" panose="02040503050406030204" pitchFamily="18" charset="0"/>
                  <a:ea typeface="Calibri" panose="020F0502020204030204" pitchFamily="34" charset="0"/>
                </a:endParaRPr>
              </a:p>
              <a:p>
                <a:endParaRPr lang="ru-RU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r>
                  <a:rPr lang="ru-RU" dirty="0">
                    <a:solidFill>
                      <a:srgbClr val="836967"/>
                    </a:solidFill>
                  </a:rPr>
                  <a:t>          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𝜗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ru-RU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ru-RU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ru-RU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f>
                              <m:fPr>
                                <m:ctrlPr>
                                  <a:rPr lang="ru-RU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𝑝𝑠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𝑜</m:t>
                                        </m:r>
                                      </m:sub>
                                    </m:s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Sup>
                                      <m:sSubSup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𝑜</m:t>
                                        </m:r>
                                      </m:sub>
                                      <m:sup>
                                        <m:r>
                                          <a:rPr lang="ru-RU" i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den>
                            </m:f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, </m:t>
                            </m:r>
                            <m:d>
                              <m:d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den>
                                </m:f>
                              </m:e>
                            </m:d>
                          </m:e>
                          <m:e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&amp;0,            </m:t>
                            </m:r>
                            <m:d>
                              <m:d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5D536AA-84F6-4A9E-87C0-0FAFFBAEE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39520" y="4116225"/>
                <a:ext cx="7025640" cy="16719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BD85C53-D5FD-4FAC-BB4D-4ADCE21AE9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377" y="2104152"/>
            <a:ext cx="5604426" cy="155344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3922B1C-5FB0-45B7-8020-F1142FA5E6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377" y="4262553"/>
            <a:ext cx="5604426" cy="1553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815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00B755-1E72-451D-8315-26ED38737D17}"/>
              </a:ext>
            </a:extLst>
          </p:cNvPr>
          <p:cNvSpPr txBox="1"/>
          <p:nvPr/>
        </p:nvSpPr>
        <p:spPr>
          <a:xfrm>
            <a:off x="451104" y="638294"/>
            <a:ext cx="74005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</a:rPr>
              <a:t>С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труктурные изменения пористой среды: 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BBC3CB-29BE-4B3D-825B-F5285DFEEBC0}"/>
                  </a:ext>
                </a:extLst>
              </p:cNvPr>
              <p:cNvSpPr txBox="1"/>
              <p:nvPr/>
            </p:nvSpPr>
            <p:spPr>
              <a:xfrm>
                <a:off x="1865376" y="1319287"/>
                <a:ext cx="6096000" cy="570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6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sz="1600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num>
                        <m:den>
                          <m:r>
                            <a:rPr lang="ru-RU" sz="1600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ru-RU" sz="16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1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ru-RU" sz="1600" i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BBC3CB-29BE-4B3D-825B-F5285DFEE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376" y="1319287"/>
                <a:ext cx="6096000" cy="5702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052C24-81DC-4A3B-89EA-C5028628AF14}"/>
                  </a:ext>
                </a:extLst>
              </p:cNvPr>
              <p:cNvSpPr txBox="1"/>
              <p:nvPr/>
            </p:nvSpPr>
            <p:spPr>
              <a:xfrm>
                <a:off x="0" y="2803892"/>
                <a:ext cx="4517136" cy="6251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ru-RU" sz="1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subSup"/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sz="160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d>
                                <m:dPr>
                                  <m:ctrlP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subSup"/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sz="160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ru-RU" sz="160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052C24-81DC-4A3B-89EA-C5028628A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03892"/>
                <a:ext cx="4517136" cy="625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ECA6FF-8EAC-4B72-BAD1-4F7532933573}"/>
                  </a:ext>
                </a:extLst>
              </p:cNvPr>
              <p:cNvSpPr txBox="1"/>
              <p:nvPr/>
            </p:nvSpPr>
            <p:spPr>
              <a:xfrm>
                <a:off x="5571744" y="2852130"/>
                <a:ext cx="3706368" cy="6251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ru-RU" sz="1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subSup"/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sz="1600" i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d>
                                <m:dPr>
                                  <m:ctrlP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subSup"/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sz="1600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sz="1600" i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ru-RU" sz="1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ru-RU" sz="160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6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ECA6FF-8EAC-4B72-BAD1-4F7532933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1744" y="2852130"/>
                <a:ext cx="3706368" cy="6251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7E204D7B-1139-44CB-AC94-22BF1A66819F}"/>
              </a:ext>
            </a:extLst>
          </p:cNvPr>
          <p:cNvCxnSpPr>
            <a:cxnSpLocks/>
          </p:cNvCxnSpPr>
          <p:nvPr/>
        </p:nvCxnSpPr>
        <p:spPr>
          <a:xfrm flipH="1">
            <a:off x="2999232" y="1889508"/>
            <a:ext cx="774192" cy="766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2193A112-BB4E-436A-A589-1C9A2180C406}"/>
              </a:ext>
            </a:extLst>
          </p:cNvPr>
          <p:cNvCxnSpPr>
            <a:cxnSpLocks/>
          </p:cNvCxnSpPr>
          <p:nvPr/>
        </p:nvCxnSpPr>
        <p:spPr>
          <a:xfrm>
            <a:off x="6096000" y="1885289"/>
            <a:ext cx="652272" cy="689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4236A0-A78D-447C-B59D-FD5E57D9E8FD}"/>
                  </a:ext>
                </a:extLst>
              </p:cNvPr>
              <p:cNvSpPr txBox="1"/>
              <p:nvPr/>
            </p:nvSpPr>
            <p:spPr>
              <a:xfrm>
                <a:off x="810768" y="4958302"/>
                <a:ext cx="6096000" cy="8702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𝑚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4236A0-A78D-447C-B59D-FD5E57D9E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768" y="4958302"/>
                <a:ext cx="6096000" cy="8702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527CF01F-B188-4DB5-AF88-0055BBFF0FB8}"/>
              </a:ext>
            </a:extLst>
          </p:cNvPr>
          <p:cNvSpPr txBox="1"/>
          <p:nvPr/>
        </p:nvSpPr>
        <p:spPr>
          <a:xfrm>
            <a:off x="451104" y="4230766"/>
            <a:ext cx="61203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Интенсивность массообмена: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881235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790851-3B4C-4BCD-8FD2-551C85EDFED5}"/>
              </a:ext>
            </a:extLst>
          </p:cNvPr>
          <p:cNvSpPr txBox="1"/>
          <p:nvPr/>
        </p:nvSpPr>
        <p:spPr>
          <a:xfrm>
            <a:off x="524256" y="491990"/>
            <a:ext cx="38160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Поле водонасыщенности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/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черная линия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− 5%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красная пунктирная линия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− 0%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blipFill>
                <a:blip r:embed="rId2"/>
                <a:stretch>
                  <a:fillRect l="-780" t="-5455" b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F5B6AD27-977F-4995-936B-B4D283471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30" y="1987267"/>
            <a:ext cx="2659507" cy="2284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FBB6105-C770-4731-B557-5A57A31DD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777" y="4414992"/>
            <a:ext cx="2661560" cy="2284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8B5F423-D258-4C97-871A-9B99C31BC835}"/>
              </a:ext>
            </a:extLst>
          </p:cNvPr>
          <p:cNvSpPr txBox="1"/>
          <p:nvPr/>
        </p:nvSpPr>
        <p:spPr>
          <a:xfrm>
            <a:off x="3450337" y="2583700"/>
            <a:ext cx="2523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прорыва воды к добывающей скважине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EA0F24-57BD-4EA7-9225-2BECEE113171}"/>
              </a:ext>
            </a:extLst>
          </p:cNvPr>
          <p:cNvSpPr txBox="1"/>
          <p:nvPr/>
        </p:nvSpPr>
        <p:spPr>
          <a:xfrm>
            <a:off x="3450337" y="5011425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достижения обводненности 98%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F23D43D-826E-453D-BDCA-E53A483F39C0}"/>
              </a:ext>
            </a:extLst>
          </p:cNvPr>
          <p:cNvSpPr/>
          <p:nvPr/>
        </p:nvSpPr>
        <p:spPr>
          <a:xfrm>
            <a:off x="6778752" y="1987267"/>
            <a:ext cx="4011168" cy="34137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FE5A87-1086-497E-88E9-7BAC1DCFAE53}"/>
              </a:ext>
            </a:extLst>
          </p:cNvPr>
          <p:cNvSpPr txBox="1"/>
          <p:nvPr/>
        </p:nvSpPr>
        <p:spPr>
          <a:xfrm>
            <a:off x="7406640" y="3370981"/>
            <a:ext cx="32491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изолиний поля насыщенности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5C96C9-1E9D-4606-BD2A-FF5FB0D32251}"/>
              </a:ext>
            </a:extLst>
          </p:cNvPr>
          <p:cNvSpPr txBox="1"/>
          <p:nvPr/>
        </p:nvSpPr>
        <p:spPr>
          <a:xfrm>
            <a:off x="3651504" y="3902573"/>
            <a:ext cx="1804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ighlight>
                  <a:srgbClr val="FF0000"/>
                </a:highlight>
                <a:latin typeface="Times New Roman" panose="02020603050405020304" pitchFamily="18" charset="0"/>
              </a:rPr>
              <a:t>Добавить дни</a:t>
            </a:r>
            <a:endParaRPr lang="ru-RU" dirty="0"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50575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790851-3B4C-4BCD-8FD2-551C85EDFED5}"/>
              </a:ext>
            </a:extLst>
          </p:cNvPr>
          <p:cNvSpPr txBox="1"/>
          <p:nvPr/>
        </p:nvSpPr>
        <p:spPr>
          <a:xfrm>
            <a:off x="524256" y="491990"/>
            <a:ext cx="38160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Поле температуры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/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черная линия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− 5%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красная пунктирная линия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− 0%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blipFill>
                <a:blip r:embed="rId2"/>
                <a:stretch>
                  <a:fillRect l="-780" t="-5455" b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8B5F423-D258-4C97-871A-9B99C31BC835}"/>
              </a:ext>
            </a:extLst>
          </p:cNvPr>
          <p:cNvSpPr txBox="1"/>
          <p:nvPr/>
        </p:nvSpPr>
        <p:spPr>
          <a:xfrm>
            <a:off x="3450337" y="2583700"/>
            <a:ext cx="2523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прорыва воды к добывающей скважине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EA0F24-57BD-4EA7-9225-2BECEE113171}"/>
              </a:ext>
            </a:extLst>
          </p:cNvPr>
          <p:cNvSpPr txBox="1"/>
          <p:nvPr/>
        </p:nvSpPr>
        <p:spPr>
          <a:xfrm>
            <a:off x="3450337" y="5011425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достижения обводненности 98%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F23D43D-826E-453D-BDCA-E53A483F39C0}"/>
              </a:ext>
            </a:extLst>
          </p:cNvPr>
          <p:cNvSpPr/>
          <p:nvPr/>
        </p:nvSpPr>
        <p:spPr>
          <a:xfrm>
            <a:off x="6778752" y="1987267"/>
            <a:ext cx="4011168" cy="34137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FE5A87-1086-497E-88E9-7BAC1DCFAE53}"/>
              </a:ext>
            </a:extLst>
          </p:cNvPr>
          <p:cNvSpPr txBox="1"/>
          <p:nvPr/>
        </p:nvSpPr>
        <p:spPr>
          <a:xfrm>
            <a:off x="7406640" y="3370981"/>
            <a:ext cx="32491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изолиний поля температуры</a:t>
            </a:r>
            <a:endParaRPr lang="ru-RU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7C6E231-8D77-434E-B4C4-75108D03C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982" y="4294366"/>
            <a:ext cx="2529147" cy="2164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5A31326-FDC2-4A7F-A9AC-7E5EF34C0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80" y="1987267"/>
            <a:ext cx="2523744" cy="2164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7367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790851-3B4C-4BCD-8FD2-551C85EDFED5}"/>
              </a:ext>
            </a:extLst>
          </p:cNvPr>
          <p:cNvSpPr txBox="1"/>
          <p:nvPr/>
        </p:nvSpPr>
        <p:spPr>
          <a:xfrm>
            <a:off x="524256" y="491990"/>
            <a:ext cx="6156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Графики показателей работы скважины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/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черная линия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− 5%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красная пунктирная линия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− 0%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blipFill>
                <a:blip r:embed="rId2"/>
                <a:stretch>
                  <a:fillRect l="-780" t="-5455" b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14">
            <a:extLst>
              <a:ext uri="{FF2B5EF4-FFF2-40B4-BE49-F238E27FC236}">
                <a16:creationId xmlns:a16="http://schemas.microsoft.com/office/drawing/2014/main" id="{AB0325BB-79DC-4ED4-9F35-C22A21B964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4694" y="2310383"/>
            <a:ext cx="14342038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pSp>
        <p:nvGrpSpPr>
          <p:cNvPr id="5" name="Полотно 18">
            <a:extLst>
              <a:ext uri="{FF2B5EF4-FFF2-40B4-BE49-F238E27FC236}">
                <a16:creationId xmlns:a16="http://schemas.microsoft.com/office/drawing/2014/main" id="{57152C8D-8607-438A-A19A-BA7A8FDB02C8}"/>
              </a:ext>
            </a:extLst>
          </p:cNvPr>
          <p:cNvGrpSpPr>
            <a:grpSpLocks/>
          </p:cNvGrpSpPr>
          <p:nvPr/>
        </p:nvGrpSpPr>
        <p:grpSpPr bwMode="auto">
          <a:xfrm>
            <a:off x="1194817" y="1855534"/>
            <a:ext cx="10501432" cy="4508563"/>
            <a:chOff x="-1382" y="-1911"/>
            <a:chExt cx="76336" cy="33005"/>
          </a:xfrm>
        </p:grpSpPr>
        <p:sp>
          <p:nvSpPr>
            <p:cNvPr id="6" name="AutoShape 13">
              <a:extLst>
                <a:ext uri="{FF2B5EF4-FFF2-40B4-BE49-F238E27FC236}">
                  <a16:creationId xmlns:a16="http://schemas.microsoft.com/office/drawing/2014/main" id="{52101C4D-E049-4C3D-8B90-3F95FD7E9DDD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-1382" y="-1911"/>
              <a:ext cx="62338" cy="31108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Надпись 2">
                  <a:extLst>
                    <a:ext uri="{FF2B5EF4-FFF2-40B4-BE49-F238E27FC236}">
                      <a16:creationId xmlns:a16="http://schemas.microsoft.com/office/drawing/2014/main" id="{F79661D8-E597-4684-BAC7-C7F6F85505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-481" y="26639"/>
                  <a:ext cx="32149" cy="4455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lvl="0" algn="ctr"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kumimoji="0" lang="ru-RU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Дебеты воды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и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нефти</a:t>
                  </a: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</a:p>
                <a:p>
                  <a:pPr lvl="0" algn="ctr"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добывающей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скважины</a:t>
                  </a:r>
                  <a:endParaRPr kumimoji="0" lang="en-US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" name="Надпись 2">
                  <a:extLst>
                    <a:ext uri="{FF2B5EF4-FFF2-40B4-BE49-F238E27FC236}">
                      <a16:creationId xmlns:a16="http://schemas.microsoft.com/office/drawing/2014/main" id="{F79661D8-E597-4684-BAC7-C7F6F8550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-481" y="26639"/>
                  <a:ext cx="32149" cy="4455"/>
                </a:xfrm>
                <a:prstGeom prst="rect">
                  <a:avLst/>
                </a:prstGeom>
                <a:blipFill>
                  <a:blip r:embed="rId3"/>
                  <a:stretch>
                    <a:fillRect t="-5000" b="-21000"/>
                  </a:stretch>
                </a:blip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Надпись 2">
                  <a:extLst>
                    <a:ext uri="{FF2B5EF4-FFF2-40B4-BE49-F238E27FC236}">
                      <a16:creationId xmlns:a16="http://schemas.microsoft.com/office/drawing/2014/main" id="{9F9EDB0B-504B-4A3C-AD26-FDDB67D7CB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7248" y="26594"/>
                  <a:ext cx="37706" cy="4300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lvl="0" algn="ctr"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kumimoji="0" lang="ru-RU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Накопленные дебеты воды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и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нефти</a:t>
                  </a: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добывающей</a:t>
                  </a: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скважины</a:t>
                  </a:r>
                  <a:endParaRPr kumimoji="0" lang="en-US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0" name="Надпись 2">
                  <a:extLst>
                    <a:ext uri="{FF2B5EF4-FFF2-40B4-BE49-F238E27FC236}">
                      <a16:creationId xmlns:a16="http://schemas.microsoft.com/office/drawing/2014/main" id="{9F9EDB0B-504B-4A3C-AD26-FDDB67D7CB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248" y="26594"/>
                  <a:ext cx="37706" cy="4300"/>
                </a:xfrm>
                <a:prstGeom prst="rect">
                  <a:avLst/>
                </a:prstGeom>
                <a:blipFill>
                  <a:blip r:embed="rId4"/>
                  <a:stretch>
                    <a:fillRect t="-5208" b="-26042"/>
                  </a:stretch>
                </a:blip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 Box 10">
              <a:extLst>
                <a:ext uri="{FF2B5EF4-FFF2-40B4-BE49-F238E27FC236}">
                  <a16:creationId xmlns:a16="http://schemas.microsoft.com/office/drawing/2014/main" id="{F270440B-FBF0-475F-8EA5-7A5FE8DB73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580" y="1905"/>
              <a:ext cx="4363" cy="3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1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qw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" name="Text Box 9">
              <a:extLst>
                <a:ext uri="{FF2B5EF4-FFF2-40B4-BE49-F238E27FC236}">
                  <a16:creationId xmlns:a16="http://schemas.microsoft.com/office/drawing/2014/main" id="{3433761A-2A2B-4B32-B4D4-49EC4F32B5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894" y="19050"/>
              <a:ext cx="4363" cy="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1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qo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" name="Text Box 8">
              <a:extLst>
                <a:ext uri="{FF2B5EF4-FFF2-40B4-BE49-F238E27FC236}">
                  <a16:creationId xmlns:a16="http://schemas.microsoft.com/office/drawing/2014/main" id="{4F675649-4D47-4E12-B68F-1050C8EE95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09" y="2908"/>
              <a:ext cx="4363" cy="3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2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Qw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" name="Text Box 7">
              <a:extLst>
                <a:ext uri="{FF2B5EF4-FFF2-40B4-BE49-F238E27FC236}">
                  <a16:creationId xmlns:a16="http://schemas.microsoft.com/office/drawing/2014/main" id="{089003E8-D847-4FB3-8A49-4E38038B06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45" y="15862"/>
              <a:ext cx="4362" cy="3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2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Qo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pic>
          <p:nvPicPr>
            <p:cNvPr id="3078" name="Picture 6">
              <a:extLst>
                <a:ext uri="{FF2B5EF4-FFF2-40B4-BE49-F238E27FC236}">
                  <a16:creationId xmlns:a16="http://schemas.microsoft.com/office/drawing/2014/main" id="{C3921824-5ED5-47B8-A9DE-BD1AC1B9BD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5" y="0"/>
              <a:ext cx="30137" cy="25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7" name="Picture 5">
              <a:extLst>
                <a:ext uri="{FF2B5EF4-FFF2-40B4-BE49-F238E27FC236}">
                  <a16:creationId xmlns:a16="http://schemas.microsoft.com/office/drawing/2014/main" id="{9BE1175D-9EB4-47CA-92A1-4A9E2E3CA1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1538"/>
              <a:ext cx="4420" cy="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6" name="Picture 4">
              <a:extLst>
                <a:ext uri="{FF2B5EF4-FFF2-40B4-BE49-F238E27FC236}">
                  <a16:creationId xmlns:a16="http://schemas.microsoft.com/office/drawing/2014/main" id="{9F94CB87-F84A-4F21-B10C-FB360AC688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5" y="7696"/>
              <a:ext cx="2438" cy="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5" name="Picture 3">
              <a:extLst>
                <a:ext uri="{FF2B5EF4-FFF2-40B4-BE49-F238E27FC236}">
                  <a16:creationId xmlns:a16="http://schemas.microsoft.com/office/drawing/2014/main" id="{E4B2FE9F-5012-45F0-B861-0D06CA64A2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660" y="-478"/>
              <a:ext cx="30188" cy="25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70E32BC3-1838-4CC9-8931-D5E998BB2E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054" y="9791"/>
              <a:ext cx="2438" cy="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D25F173-20BD-43C4-927E-F10A36C8EE39}"/>
                  </a:ext>
                </a:extLst>
              </p:cNvPr>
              <p:cNvSpPr txBox="1"/>
              <p:nvPr/>
            </p:nvSpPr>
            <p:spPr>
              <a:xfrm>
                <a:off x="3775336" y="2329155"/>
                <a:ext cx="6863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D25F173-20BD-43C4-927E-F10A36C8E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336" y="2329155"/>
                <a:ext cx="686329" cy="369332"/>
              </a:xfrm>
              <a:prstGeom prst="rect">
                <a:avLst/>
              </a:prstGeom>
              <a:blipFill>
                <a:blip r:embed="rId10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B2A620-0A70-4AEB-B142-B6C6587D4F00}"/>
                  </a:ext>
                </a:extLst>
              </p:cNvPr>
              <p:cNvSpPr txBox="1"/>
              <p:nvPr/>
            </p:nvSpPr>
            <p:spPr>
              <a:xfrm>
                <a:off x="3711083" y="4605046"/>
                <a:ext cx="6863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B2A620-0A70-4AEB-B142-B6C6587D4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1083" y="4605046"/>
                <a:ext cx="686329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4E221A7-7778-4FF3-8482-24ECECEE2561}"/>
                  </a:ext>
                </a:extLst>
              </p:cNvPr>
              <p:cNvSpPr txBox="1"/>
              <p:nvPr/>
            </p:nvSpPr>
            <p:spPr>
              <a:xfrm>
                <a:off x="9770565" y="2983481"/>
                <a:ext cx="8882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4E221A7-7778-4FF3-8482-24ECECEE2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0565" y="2983481"/>
                <a:ext cx="888253" cy="369332"/>
              </a:xfrm>
              <a:prstGeom prst="rect">
                <a:avLst/>
              </a:prstGeom>
              <a:blipFill>
                <a:blip r:embed="rId12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59A26A-C04D-484C-AA39-DB8A740B3BCB}"/>
                  </a:ext>
                </a:extLst>
              </p:cNvPr>
              <p:cNvSpPr txBox="1"/>
              <p:nvPr/>
            </p:nvSpPr>
            <p:spPr>
              <a:xfrm>
                <a:off x="9717216" y="4316447"/>
                <a:ext cx="8882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59A26A-C04D-484C-AA39-DB8A740B3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216" y="4316447"/>
                <a:ext cx="888253" cy="369332"/>
              </a:xfrm>
              <a:prstGeom prst="rect">
                <a:avLst/>
              </a:prstGeom>
              <a:blipFill>
                <a:blip r:embed="rId13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7792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F5A8599-252C-41B5-904A-A02A2240B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3247" y="2005583"/>
            <a:ext cx="16111407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pSp>
        <p:nvGrpSpPr>
          <p:cNvPr id="3" name="Полотно 11">
            <a:extLst>
              <a:ext uri="{FF2B5EF4-FFF2-40B4-BE49-F238E27FC236}">
                <a16:creationId xmlns:a16="http://schemas.microsoft.com/office/drawing/2014/main" id="{1D6769A1-C319-45D0-99EE-4B360C756733}"/>
              </a:ext>
            </a:extLst>
          </p:cNvPr>
          <p:cNvGrpSpPr>
            <a:grpSpLocks/>
          </p:cNvGrpSpPr>
          <p:nvPr/>
        </p:nvGrpSpPr>
        <p:grpSpPr bwMode="auto">
          <a:xfrm>
            <a:off x="3226150" y="2028480"/>
            <a:ext cx="4271804" cy="3444189"/>
            <a:chOff x="17130" y="162"/>
            <a:chExt cx="24497" cy="24369"/>
          </a:xfrm>
        </p:grpSpPr>
        <p:sp>
          <p:nvSpPr>
            <p:cNvPr id="5" name="Надпись 2">
              <a:extLst>
                <a:ext uri="{FF2B5EF4-FFF2-40B4-BE49-F238E27FC236}">
                  <a16:creationId xmlns:a16="http://schemas.microsoft.com/office/drawing/2014/main" id="{6D9A45B3-4434-469E-8659-667B5B03E0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130" y="162"/>
              <a:ext cx="21437" cy="66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Множитель абсолютной пористости </a:t>
              </a:r>
              <a:r>
                <a:rPr lang="ru-RU" altLang="ru-RU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в момент достижения предельной обводненности</a:t>
              </a:r>
              <a:endPara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Надпись 2">
              <a:extLst>
                <a:ext uri="{FF2B5EF4-FFF2-40B4-BE49-F238E27FC236}">
                  <a16:creationId xmlns:a16="http://schemas.microsoft.com/office/drawing/2014/main" id="{F63C9362-B6F7-4B9D-8B33-1B2F3A7F6F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829" y="17835"/>
              <a:ext cx="23798" cy="66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Множитель абсолютной проницаемости </a:t>
              </a:r>
              <a:r>
                <a:rPr lang="ru-RU" altLang="ru-RU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в момент достижения предельной обводненности</a:t>
              </a:r>
              <a:r>
                <a: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endPara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8DDECC-35A0-4B22-9DAC-6F85DD990BFE}"/>
              </a:ext>
            </a:extLst>
          </p:cNvPr>
          <p:cNvSpPr txBox="1"/>
          <p:nvPr/>
        </p:nvSpPr>
        <p:spPr>
          <a:xfrm>
            <a:off x="554967" y="636615"/>
            <a:ext cx="6156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Структурные изменения пористой среды</a:t>
            </a:r>
            <a:endParaRPr lang="ru-RU" sz="2400" dirty="0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531F3FD6-28F1-4A6C-BB6B-E2BA3846D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935" y="4042985"/>
            <a:ext cx="2838343" cy="2278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5206CAE-84D6-4CB2-BDA4-34998A970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35" y="1482558"/>
            <a:ext cx="2780855" cy="2226945"/>
          </a:xfrm>
          <a:prstGeom prst="rect">
            <a:avLst/>
          </a:prstGeom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F73B0DE-06C4-41A7-909E-26EFC8BD13EF}"/>
              </a:ext>
            </a:extLst>
          </p:cNvPr>
          <p:cNvSpPr/>
          <p:nvPr/>
        </p:nvSpPr>
        <p:spPr>
          <a:xfrm>
            <a:off x="8107680" y="1326405"/>
            <a:ext cx="2648146" cy="23124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DF662-FBBB-4ACA-9E0D-5A9B2086B880}"/>
              </a:ext>
            </a:extLst>
          </p:cNvPr>
          <p:cNvSpPr txBox="1"/>
          <p:nvPr/>
        </p:nvSpPr>
        <p:spPr>
          <a:xfrm>
            <a:off x="8205289" y="2121644"/>
            <a:ext cx="25262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множителя пористости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7AD3A47-4AA9-4D12-9A78-2B6E69535F8D}"/>
              </a:ext>
            </a:extLst>
          </p:cNvPr>
          <p:cNvSpPr/>
          <p:nvPr/>
        </p:nvSpPr>
        <p:spPr>
          <a:xfrm>
            <a:off x="8083370" y="4009315"/>
            <a:ext cx="2648146" cy="23124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462BC6-4E61-4CCD-B29A-8E5F41D0E7A8}"/>
              </a:ext>
            </a:extLst>
          </p:cNvPr>
          <p:cNvSpPr txBox="1"/>
          <p:nvPr/>
        </p:nvSpPr>
        <p:spPr>
          <a:xfrm>
            <a:off x="8205289" y="4832044"/>
            <a:ext cx="24287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множителя проницаемости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5445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F5A8599-252C-41B5-904A-A02A2240B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3247" y="2005583"/>
            <a:ext cx="16111407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8DDECC-35A0-4B22-9DAC-6F85DD990BFE}"/>
              </a:ext>
            </a:extLst>
          </p:cNvPr>
          <p:cNvSpPr txBox="1"/>
          <p:nvPr/>
        </p:nvSpPr>
        <p:spPr>
          <a:xfrm>
            <a:off x="499872" y="628601"/>
            <a:ext cx="6156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Изменение функции пор по размерам </a:t>
            </a:r>
            <a:endParaRPr lang="ru-RU" sz="2400" dirty="0"/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DD7A7757-612D-482A-95E5-57BBB9DC5769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0" y="590896"/>
            <a:ext cx="1292237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pSp>
        <p:nvGrpSpPr>
          <p:cNvPr id="11" name="Group 1">
            <a:extLst>
              <a:ext uri="{FF2B5EF4-FFF2-40B4-BE49-F238E27FC236}">
                <a16:creationId xmlns:a16="http://schemas.microsoft.com/office/drawing/2014/main" id="{19854D73-53FD-4AC7-9746-76E2D534898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72879" y="1352898"/>
            <a:ext cx="6500714" cy="5268690"/>
            <a:chOff x="2734" y="11896"/>
            <a:chExt cx="6590" cy="7273"/>
          </a:xfrm>
        </p:grpSpPr>
        <p:sp>
          <p:nvSpPr>
            <p:cNvPr id="14" name="Text Box 6">
              <a:extLst>
                <a:ext uri="{FF2B5EF4-FFF2-40B4-BE49-F238E27FC236}">
                  <a16:creationId xmlns:a16="http://schemas.microsoft.com/office/drawing/2014/main" id="{5AA7F3EC-FD9E-49CE-A0E1-CA9D0CCB90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" y="15095"/>
              <a:ext cx="2902" cy="42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в момент времени 8.5 день</a:t>
              </a:r>
              <a:endPara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pic>
          <p:nvPicPr>
            <p:cNvPr id="5125" name="Picture 5">
              <a:extLst>
                <a:ext uri="{FF2B5EF4-FFF2-40B4-BE49-F238E27FC236}">
                  <a16:creationId xmlns:a16="http://schemas.microsoft.com/office/drawing/2014/main" id="{90A94A81-ADB6-4304-BB82-651F2F158E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" y="11896"/>
              <a:ext cx="3688" cy="18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4" name="Picture 4">
              <a:extLst>
                <a:ext uri="{FF2B5EF4-FFF2-40B4-BE49-F238E27FC236}">
                  <a16:creationId xmlns:a16="http://schemas.microsoft.com/office/drawing/2014/main" id="{FA6C363B-9090-4DF4-8DF4-0CBC09FEA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" y="14263"/>
              <a:ext cx="3688" cy="2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 Box 3">
              <a:extLst>
                <a:ext uri="{FF2B5EF4-FFF2-40B4-BE49-F238E27FC236}">
                  <a16:creationId xmlns:a16="http://schemas.microsoft.com/office/drawing/2014/main" id="{48B0BD46-92EF-4131-8921-BF139DB646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2" y="17558"/>
              <a:ext cx="2745" cy="28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в момент времени 400 день</a:t>
              </a:r>
              <a:endPara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5B4AB1F7-DBB9-445B-AD0F-129F5F19EA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" y="16848"/>
              <a:ext cx="3688" cy="23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Text Box 7">
            <a:extLst>
              <a:ext uri="{FF2B5EF4-FFF2-40B4-BE49-F238E27FC236}">
                <a16:creationId xmlns:a16="http://schemas.microsoft.com/office/drawing/2014/main" id="{D59D01F0-F2A6-4BFD-8CEB-D11E17DB97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6394" y="1846779"/>
            <a:ext cx="3016842" cy="253103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момент времени 5.42 день</a:t>
            </a:r>
            <a:endParaRPr kumimoji="0" lang="ru-RU" altLang="ru-RU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35B9E3A-7072-4C3E-9056-4FD6A025833D}"/>
              </a:ext>
            </a:extLst>
          </p:cNvPr>
          <p:cNvSpPr/>
          <p:nvPr/>
        </p:nvSpPr>
        <p:spPr>
          <a:xfrm>
            <a:off x="6718720" y="2296146"/>
            <a:ext cx="5302592" cy="25983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30854-0678-42F1-BE3F-0932F562DD84}"/>
              </a:ext>
            </a:extLst>
          </p:cNvPr>
          <p:cNvSpPr txBox="1"/>
          <p:nvPr/>
        </p:nvSpPr>
        <p:spPr>
          <a:xfrm>
            <a:off x="7835005" y="3391097"/>
            <a:ext cx="36478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изменения функции пор по размерам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1423959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463</Words>
  <Application>Microsoft Office PowerPoint</Application>
  <PresentationFormat>Широкоэкранный</PresentationFormat>
  <Paragraphs>76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 Lazarev</dc:creator>
  <cp:lastModifiedBy>Igor Lazarev</cp:lastModifiedBy>
  <cp:revision>29</cp:revision>
  <dcterms:created xsi:type="dcterms:W3CDTF">2025-07-01T19:09:18Z</dcterms:created>
  <dcterms:modified xsi:type="dcterms:W3CDTF">2025-07-04T08:56:30Z</dcterms:modified>
</cp:coreProperties>
</file>