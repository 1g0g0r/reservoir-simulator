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64" r:id="rId9"/>
    <p:sldId id="266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4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230E5-4301-4C8F-9441-AD3C655B72B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A8326-4620-4872-A54E-B326F773F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Двухфазная неизотермическая фильтрация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A8326-4620-4872-A54E-B326F773F3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19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 решения уравнений - МКО. Совместное решение </a:t>
            </a:r>
            <a:r>
              <a:rPr lang="ru-RU" dirty="0" err="1"/>
              <a:t>ур</a:t>
            </a:r>
            <a:r>
              <a:rPr lang="ru-RU" dirty="0"/>
              <a:t>. Давления и насыщенности - </a:t>
            </a:r>
            <a:r>
              <a:rPr lang="en-US" dirty="0"/>
              <a:t>IMPES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A8326-4620-4872-A54E-B326F773F3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52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идеального грунта, в рамках которой ПС моделируется в виде системы цилиндрических капилляров разного диаметра и имеющих фиктивные сужения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A8326-4620-4872-A54E-B326F773F3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87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пор по размерам и скорости блокировки\сужения микропараметры задачи. Переход к макропараметрам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A8326-4620-4872-A54E-B326F773F3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0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C2B8DA-A4F9-429E-8201-59038CB6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472A64-1B0C-476F-9AAC-FDEB833D7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164B1C-F623-4CCB-9F8B-2FAFB49D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19EA-0494-44C9-AD5E-111612295E1D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8706C6-A32B-4045-89CE-98DC9682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A517F8-6924-46E9-ABF7-097EA74D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3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4077C-8FBD-4B2B-990C-A07D5E7B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B1E9D-A563-4484-825D-DA79F326E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D06EAB-A271-46B8-9A14-E5998CDD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FE9-777A-4720-B41C-66BC22AFB59A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98AE06-C882-49DE-AF28-3B831B4A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3606A-AD3B-4EB4-834D-0FC67681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4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F9CBD-4115-4621-8D46-9BB1B76A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2C798D-EA70-456D-AC6D-A8A15443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0995F3-6F99-4582-A5A0-95F52244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5B998-847D-40B3-954E-9F13EBEA3C9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C861DD-A2E6-4463-9CE8-890F5C4F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7E289-F6EE-4729-9544-029242BD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4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5601C-EBDF-43FD-A246-520FE86C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68E7B-3CB5-4545-98D6-A49B6C5C1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E68E62-BA9C-44C5-91FA-0F92B6BE2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ADB60C-8D28-4343-8659-1EC1F552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7214-05EF-4A2D-9EA8-6C442AB2F9C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B5C569-EA6B-48AD-9CFD-5552F558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B1FA1B-4317-4D5E-A9E5-6D00AC86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9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436CD-8272-46CE-8DBD-9087CBABD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5193BA-CB76-4D1E-989E-9100A1B6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5576769-7E51-4D4B-82F3-C6940F52F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961B94-584E-4802-A40A-C64CAFCCC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6568C02-4885-4904-A60A-BECEC7ECF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573036C-D1FA-43AC-8687-4C3132AD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56AD-A241-444B-8F64-D1FD833120CD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F2206A-63B0-4589-B186-03EFA2F4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B17348-DC0B-47B4-B1BF-422F75C9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316D8-760D-4381-8AC8-86A04E6D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122B4A-ADE8-4623-8002-280B143F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2818-0D98-45C4-8D23-DE59E572A1A9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FA4FCC0-2D37-48CB-BB70-279311AD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7BA225-27FE-4047-BB99-878753DC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97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C55126D-A07F-4D97-AC68-7287958F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4919A-013B-46A4-A493-92B34F141041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75DF8C-ED8C-45E4-8806-0A274510E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7FC245-B200-4651-8BE4-B9B958FD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4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F5830-1448-44BA-990D-2C796559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A9309-6A6D-4D63-842D-936492B88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F7437A-BC7C-4D44-8A4F-05E0B2FC3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5BEC7A-2182-498E-B048-E09A8742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80BA-47EC-421C-95B2-D6AED7BE701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4D8CEA-1E38-4A60-BC66-967BD880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CDDF25-B2C5-40B7-9918-A2BEAEED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8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B6077-2A65-4FFD-88B9-BBA87162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082EC8-0C2A-4AC0-954D-1751482B7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7BE823-9BBC-4D2E-ACF0-C05EB11FB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935C29-6C8E-42A0-B42E-6126DBE14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D23FD-436F-497C-962F-6B0CBAD65E9E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9F6C70-7120-4D18-B010-620274F5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C4E8E1-4CB0-47BB-BE7F-98E1837F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48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3DE73-C946-49EE-A45C-4C56559C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55B270-7100-4374-BE03-BF64C8452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BD3042-7C89-4C59-A1A7-442484AC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17327-4FBD-49AA-AFDA-B5303492A990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F9D742-16C7-45DD-8033-1A4677E5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250BD8-09F1-4C2B-83E1-D53E97B2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4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EE8649D-2561-4F86-B876-92F7F6351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AC71C1-05DE-49D3-9FCE-56A4520A0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8D90A7-9F8B-4A2E-A9FC-2A2C5C67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1AA4-2429-4A01-8D9A-DE799697401B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AFFCB-A807-49C1-92CA-232BD9A9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33CF06-4749-467D-BCEF-330AB5F7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9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74D20-02B2-46EC-8C66-CA977440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40C5DC-E75B-49F0-8344-E285132E8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7FC59D-2185-4930-A812-5441B8098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9BDAA-4277-4BD3-82FD-1F06147B33C0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69184-82BC-4592-AA98-53FCF4D4E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A273CF-B515-4308-B268-37F0910FE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CC2-39B4-4E3F-9986-622BFC31D2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4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20.svg"/><Relationship Id="rId7" Type="http://schemas.openxmlformats.org/officeDocument/2006/relationships/image" Target="../media/image210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sv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gif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12C92B4-AFF4-45A9-905E-16C7F3E2CC31}"/>
              </a:ext>
            </a:extLst>
          </p:cNvPr>
          <p:cNvSpPr/>
          <p:nvPr/>
        </p:nvSpPr>
        <p:spPr>
          <a:xfrm>
            <a:off x="-1" y="0"/>
            <a:ext cx="12290323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FBA8789-D77D-4E12-8F4C-192C512CD2D6}"/>
              </a:ext>
            </a:extLst>
          </p:cNvPr>
          <p:cNvSpPr txBox="1">
            <a:spLocks/>
          </p:cNvSpPr>
          <p:nvPr/>
        </p:nvSpPr>
        <p:spPr>
          <a:xfrm>
            <a:off x="626817" y="3015810"/>
            <a:ext cx="10200274" cy="14214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ru-RU" sz="3200" kern="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 процессе выпадения парафина в пласте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9048A86-17FA-4A43-989F-517490FCF0C3}"/>
              </a:ext>
            </a:extLst>
          </p:cNvPr>
          <p:cNvSpPr txBox="1">
            <a:spLocks/>
          </p:cNvSpPr>
          <p:nvPr/>
        </p:nvSpPr>
        <p:spPr>
          <a:xfrm>
            <a:off x="531125" y="5057218"/>
            <a:ext cx="9426147" cy="365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Лазарев Игорь Сергеевич,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2B5929E-A2F4-F022-8F65-146CC143EB4E}"/>
              </a:ext>
            </a:extLst>
          </p:cNvPr>
          <p:cNvSpPr txBox="1">
            <a:spLocks/>
          </p:cNvSpPr>
          <p:nvPr/>
        </p:nvSpPr>
        <p:spPr>
          <a:xfrm>
            <a:off x="531124" y="5592484"/>
            <a:ext cx="9426147" cy="365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Никифоров Анатолий Иванович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0A49E7D-7102-4062-8F89-343E90C795F3}"/>
              </a:ext>
            </a:extLst>
          </p:cNvPr>
          <p:cNvSpPr txBox="1">
            <a:spLocks/>
          </p:cNvSpPr>
          <p:nvPr/>
        </p:nvSpPr>
        <p:spPr>
          <a:xfrm>
            <a:off x="964252" y="847818"/>
            <a:ext cx="5180908" cy="122099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научная конференция ФИЦ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КазНЦ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РАН 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6821E74-D2BA-4E4E-990A-A3A254F97E15}"/>
              </a:ext>
            </a:extLst>
          </p:cNvPr>
          <p:cNvCxnSpPr/>
          <p:nvPr/>
        </p:nvCxnSpPr>
        <p:spPr>
          <a:xfrm>
            <a:off x="6445554" y="721793"/>
            <a:ext cx="0" cy="134702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7">
                <a:extLst>
                  <a:ext uri="{FF2B5EF4-FFF2-40B4-BE49-F238E27FC236}">
                    <a16:creationId xmlns:a16="http://schemas.microsoft.com/office/drawing/2014/main" id="{FF2C08E9-1328-4EB4-945A-6E2D621611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9725" y="889724"/>
                <a:ext cx="3817366" cy="122099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Казань, 2026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12−13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февраля</a:t>
                </a:r>
              </a:p>
            </p:txBody>
          </p:sp>
        </mc:Choice>
        <mc:Fallback xmlns="">
          <p:sp>
            <p:nvSpPr>
              <p:cNvPr id="12" name="Text Placeholder 7">
                <a:extLst>
                  <a:ext uri="{FF2B5EF4-FFF2-40B4-BE49-F238E27FC236}">
                    <a16:creationId xmlns:a16="http://schemas.microsoft.com/office/drawing/2014/main" id="{FF2C08E9-1328-4EB4-945A-6E2D62161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9725" y="889724"/>
                <a:ext cx="3817366" cy="1220995"/>
              </a:xfrm>
              <a:prstGeom prst="rect">
                <a:avLst/>
              </a:prstGeom>
              <a:blipFill>
                <a:blip r:embed="rId2"/>
                <a:stretch>
                  <a:fillRect l="-2556" t="-7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13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7080349-B165-433D-88F5-ABDB2354CFC3}"/>
              </a:ext>
            </a:extLst>
          </p:cNvPr>
          <p:cNvSpPr txBox="1">
            <a:spLocks/>
          </p:cNvSpPr>
          <p:nvPr/>
        </p:nvSpPr>
        <p:spPr>
          <a:xfrm>
            <a:off x="504851" y="3709965"/>
            <a:ext cx="3414510" cy="5334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Граничные условия: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700099-36AF-4C5C-B1FD-E18364AF4630}"/>
              </a:ext>
            </a:extLst>
          </p:cNvPr>
          <p:cNvSpPr txBox="1">
            <a:spLocks/>
          </p:cNvSpPr>
          <p:nvPr/>
        </p:nvSpPr>
        <p:spPr>
          <a:xfrm>
            <a:off x="434860" y="2332891"/>
            <a:ext cx="3414510" cy="5334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 условия: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54F3FD0-914C-4A60-B5D1-7F3C8E55349F}"/>
              </a:ext>
            </a:extLst>
          </p:cNvPr>
          <p:cNvGrpSpPr/>
          <p:nvPr/>
        </p:nvGrpSpPr>
        <p:grpSpPr>
          <a:xfrm>
            <a:off x="5346426" y="304308"/>
            <a:ext cx="6762081" cy="5058235"/>
            <a:chOff x="5346426" y="323973"/>
            <a:chExt cx="6762081" cy="5058235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13CACFCB-4507-4BB0-8FEF-36A9E0B941EE}"/>
                </a:ext>
              </a:extLst>
            </p:cNvPr>
            <p:cNvGrpSpPr/>
            <p:nvPr/>
          </p:nvGrpSpPr>
          <p:grpSpPr>
            <a:xfrm>
              <a:off x="6081466" y="2181499"/>
              <a:ext cx="219852" cy="1785039"/>
              <a:chOff x="5289755" y="2310581"/>
              <a:chExt cx="585449" cy="1759974"/>
            </a:xfrm>
          </p:grpSpPr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120E081E-28B1-4D4F-AB85-3118A87DCFC1}"/>
                  </a:ext>
                </a:extLst>
              </p:cNvPr>
              <p:cNvSpPr/>
              <p:nvPr/>
            </p:nvSpPr>
            <p:spPr>
              <a:xfrm>
                <a:off x="5289755" y="2310581"/>
                <a:ext cx="560439" cy="175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8C7A43A8-FFF1-4C63-BBFB-23321F67BB15}"/>
                  </a:ext>
                </a:extLst>
              </p:cNvPr>
              <p:cNvSpPr/>
              <p:nvPr/>
            </p:nvSpPr>
            <p:spPr>
              <a:xfrm>
                <a:off x="5541399" y="2525227"/>
                <a:ext cx="333805" cy="10758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19A6CEFA-11B7-4EBF-9724-DE4E5A6C6C0D}"/>
                </a:ext>
              </a:extLst>
            </p:cNvPr>
            <p:cNvGrpSpPr/>
            <p:nvPr/>
          </p:nvGrpSpPr>
          <p:grpSpPr>
            <a:xfrm>
              <a:off x="5441007" y="323973"/>
              <a:ext cx="6667500" cy="5000625"/>
              <a:chOff x="5441007" y="323973"/>
              <a:chExt cx="6667500" cy="5000625"/>
            </a:xfrm>
          </p:grpSpPr>
          <p:pic>
            <p:nvPicPr>
              <p:cNvPr id="11" name="Рисунок 10">
                <a:extLst>
                  <a:ext uri="{FF2B5EF4-FFF2-40B4-BE49-F238E27FC236}">
                    <a16:creationId xmlns:a16="http://schemas.microsoft.com/office/drawing/2014/main" id="{E5AB0850-2ED5-4E94-BEC2-26E84F279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441007" y="323973"/>
                <a:ext cx="6667500" cy="5000625"/>
              </a:xfrm>
              <a:prstGeom prst="rect">
                <a:avLst/>
              </a:prstGeom>
            </p:spPr>
          </p:pic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31C614EF-E377-43AF-AC16-E7F5AC7E2284}"/>
                  </a:ext>
                </a:extLst>
              </p:cNvPr>
              <p:cNvGrpSpPr/>
              <p:nvPr/>
            </p:nvGrpSpPr>
            <p:grpSpPr>
              <a:xfrm>
                <a:off x="5967984" y="2200906"/>
                <a:ext cx="323242" cy="1765634"/>
                <a:chOff x="5314087" y="2260243"/>
                <a:chExt cx="860767" cy="1740841"/>
              </a:xfrm>
            </p:grpSpPr>
            <p:sp>
              <p:nvSpPr>
                <p:cNvPr id="13" name="Прямоугольник 12">
                  <a:extLst>
                    <a:ext uri="{FF2B5EF4-FFF2-40B4-BE49-F238E27FC236}">
                      <a16:creationId xmlns:a16="http://schemas.microsoft.com/office/drawing/2014/main" id="{E12D4658-DACB-483B-87F2-15C4FB25946D}"/>
                    </a:ext>
                  </a:extLst>
                </p:cNvPr>
                <p:cNvSpPr/>
                <p:nvPr/>
              </p:nvSpPr>
              <p:spPr>
                <a:xfrm>
                  <a:off x="5314087" y="2260243"/>
                  <a:ext cx="860767" cy="17408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Прямоугольник 13">
                  <a:extLst>
                    <a:ext uri="{FF2B5EF4-FFF2-40B4-BE49-F238E27FC236}">
                      <a16:creationId xmlns:a16="http://schemas.microsoft.com/office/drawing/2014/main" id="{656D9974-1142-49FB-9DD9-9B42859C6279}"/>
                    </a:ext>
                  </a:extLst>
                </p:cNvPr>
                <p:cNvSpPr/>
                <p:nvPr/>
              </p:nvSpPr>
              <p:spPr>
                <a:xfrm>
                  <a:off x="5541399" y="2525227"/>
                  <a:ext cx="333805" cy="10758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6DB9A325-39A6-455A-8F18-C4B9B71A50CC}"/>
                  </a:ext>
                </a:extLst>
              </p:cNvPr>
              <p:cNvGrpSpPr/>
              <p:nvPr/>
            </p:nvGrpSpPr>
            <p:grpSpPr>
              <a:xfrm>
                <a:off x="6106297" y="1751469"/>
                <a:ext cx="219852" cy="1785039"/>
                <a:chOff x="5289755" y="2310581"/>
                <a:chExt cx="585449" cy="1759974"/>
              </a:xfrm>
            </p:grpSpPr>
            <p:sp>
              <p:nvSpPr>
                <p:cNvPr id="19" name="Прямоугольник 18">
                  <a:extLst>
                    <a:ext uri="{FF2B5EF4-FFF2-40B4-BE49-F238E27FC236}">
                      <a16:creationId xmlns:a16="http://schemas.microsoft.com/office/drawing/2014/main" id="{213045EB-8F82-45B1-B078-9AEF357A0EF8}"/>
                    </a:ext>
                  </a:extLst>
                </p:cNvPr>
                <p:cNvSpPr/>
                <p:nvPr/>
              </p:nvSpPr>
              <p:spPr>
                <a:xfrm>
                  <a:off x="5289755" y="2310581"/>
                  <a:ext cx="560439" cy="175997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20" name="Прямоугольник 19">
                  <a:extLst>
                    <a:ext uri="{FF2B5EF4-FFF2-40B4-BE49-F238E27FC236}">
                      <a16:creationId xmlns:a16="http://schemas.microsoft.com/office/drawing/2014/main" id="{ECF3405F-FC2A-424D-BA3B-72ABFEBD75B4}"/>
                    </a:ext>
                  </a:extLst>
                </p:cNvPr>
                <p:cNvSpPr/>
                <p:nvPr/>
              </p:nvSpPr>
              <p:spPr>
                <a:xfrm>
                  <a:off x="5541399" y="2525227"/>
                  <a:ext cx="333805" cy="10758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7F6046FE-C5FA-4565-AA25-7C8FB8F73E1D}"/>
                </a:ext>
              </a:extLst>
            </p:cNvPr>
            <p:cNvSpPr/>
            <p:nvPr/>
          </p:nvSpPr>
          <p:spPr>
            <a:xfrm>
              <a:off x="5876854" y="2235970"/>
              <a:ext cx="323242" cy="17850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337AA97-8C1A-4F99-8A64-27978DA85F48}"/>
                </a:ext>
              </a:extLst>
            </p:cNvPr>
            <p:cNvSpPr/>
            <p:nvPr/>
          </p:nvSpPr>
          <p:spPr>
            <a:xfrm>
              <a:off x="5346426" y="3597169"/>
              <a:ext cx="323242" cy="17850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64645-C7A5-48BD-8FC8-A0DDEFB06298}"/>
                  </a:ext>
                </a:extLst>
              </p:cNvPr>
              <p:cNvSpPr txBox="1"/>
              <p:nvPr/>
            </p:nvSpPr>
            <p:spPr>
              <a:xfrm>
                <a:off x="418438" y="2951584"/>
                <a:ext cx="4347918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0: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.18 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=70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°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64645-C7A5-48BD-8FC8-A0DDEFB06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38" y="2951584"/>
                <a:ext cx="4347918" cy="3929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81BA4E-6A60-4401-BC0E-D99CE332D5C9}"/>
                  </a:ext>
                </a:extLst>
              </p:cNvPr>
              <p:cNvSpPr txBox="1"/>
              <p:nvPr/>
            </p:nvSpPr>
            <p:spPr>
              <a:xfrm>
                <a:off x="504851" y="4224262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&gt;0: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ru-RU" sz="20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781BA4E-6A60-4401-BC0E-D99CE332D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51" y="4224262"/>
                <a:ext cx="609600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324BDE-088B-4D81-9885-07FEF749AA66}"/>
                  </a:ext>
                </a:extLst>
              </p:cNvPr>
              <p:cNvSpPr txBox="1"/>
              <p:nvPr/>
            </p:nvSpPr>
            <p:spPr>
              <a:xfrm>
                <a:off x="504851" y="4712072"/>
                <a:ext cx="5625366" cy="732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ru-RU" sz="2000" b="1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&gt;0:  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150 бар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=1,  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ru-RU" sz="2000" b="0" i="0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°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;</m:t>
                            </m:r>
                          </m:e>
                        </m:mr>
                        <m:m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ru-RU" sz="2000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&gt;0:  </m:t>
                            </m:r>
                            <m:r>
                              <a:rPr lang="ru-RU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ru-RU" sz="2000" b="0" i="1" smtClean="0">
                                <a:latin typeface="Cambria Math" panose="02040503050406030204" pitchFamily="18" charset="0"/>
                              </a:rPr>
                              <m:t>50 бар                   </m:t>
                            </m:r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mr>
                      </m:m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324BDE-088B-4D81-9885-07FEF749A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51" y="4712072"/>
                <a:ext cx="5625366" cy="732123"/>
              </a:xfrm>
              <a:prstGeom prst="rect">
                <a:avLst/>
              </a:prstGeom>
              <a:blipFill>
                <a:blip r:embed="rId7"/>
                <a:stretch>
                  <a:fillRect r="-17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590F35A-E61C-4400-A77E-D15431533D36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F5AC0-4FA4-4300-B77D-EF8515280CDF}"/>
              </a:ext>
            </a:extLst>
          </p:cNvPr>
          <p:cNvSpPr txBox="1">
            <a:spLocks/>
          </p:cNvSpPr>
          <p:nvPr/>
        </p:nvSpPr>
        <p:spPr>
          <a:xfrm>
            <a:off x="234824" y="175829"/>
            <a:ext cx="6636054" cy="92184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FF8D2-8507-44CD-A1DB-8BB1103C23FD}"/>
                  </a:ext>
                </a:extLst>
              </p:cNvPr>
              <p:cNvSpPr txBox="1"/>
              <p:nvPr/>
            </p:nvSpPr>
            <p:spPr>
              <a:xfrm>
                <a:off x="-235593" y="1423807"/>
                <a:ext cx="48953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ru-RU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ru-RU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ru-RU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ru-RU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ru-R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1FF8D2-8507-44CD-A1DB-8BB1103C2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5593" y="1423807"/>
                <a:ext cx="489539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CBEA435-7BCE-469C-BDF4-87E5ECB0C278}"/>
              </a:ext>
            </a:extLst>
          </p:cNvPr>
          <p:cNvSpPr/>
          <p:nvPr/>
        </p:nvSpPr>
        <p:spPr>
          <a:xfrm>
            <a:off x="-1" y="5992950"/>
            <a:ext cx="12192001" cy="806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005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16077">
            <a:extLst>
              <a:ext uri="{FF2B5EF4-FFF2-40B4-BE49-F238E27FC236}">
                <a16:creationId xmlns:a16="http://schemas.microsoft.com/office/drawing/2014/main" id="{D3055804-D338-40FB-B002-B044BEC87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093" y="949643"/>
            <a:ext cx="3203689" cy="2479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A890B-8C15-42D5-819D-6F5036C7C1D2}"/>
                  </a:ext>
                </a:extLst>
              </p:cNvPr>
              <p:cNvSpPr txBox="1"/>
              <p:nvPr/>
            </p:nvSpPr>
            <p:spPr>
              <a:xfrm>
                <a:off x="266863" y="1737839"/>
                <a:ext cx="11658273" cy="3986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</a:t>
                </a:r>
                <a:r>
                  <a:rPr lang="ru-RU" sz="22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</m:num>
                      <m:den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den>
                    </m:f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)+</m:t>
                    </m:r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ru-RU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𝑼</m:t>
                        </m:r>
                      </m:e>
                      <m:sub>
                        <m:r>
                          <a:rPr lang="en-US" sz="2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𝒘</m:t>
                        </m:r>
                      </m:sub>
                    </m:sSub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sub>
                    </m:sSub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Закон сохранения массы воды</a:t>
                </a: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r>
                  <a:rPr lang="ru-RU" sz="22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</m:num>
                      <m:den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𝜕</m:t>
                        </m:r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ru-RU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d>
                      <m:d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2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𝒐</m:t>
                            </m:r>
                          </m:sub>
                        </m:sSub>
                      </m:e>
                    </m:d>
                    <m:r>
                      <a:rPr lang="ru-RU" sz="22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ru-RU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𝑜</m:t>
                        </m:r>
                      </m:sub>
                    </m:sSub>
                    <m:r>
                      <a:rPr lang="en-US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Закон сохранения массы нефти</a:t>
                </a:r>
                <a:endParaRPr lang="en-US" sz="2000" b="1" i="1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17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ru-RU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ru-RU" sz="17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𝑝𝑠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ru-RU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ru-RU" sz="1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1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d>
                      <m:dPr>
                        <m:ctrlPr>
                          <a:rPr lang="ru-RU" sz="17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7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𝑝𝑠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b="1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17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𝒐</m:t>
                            </m:r>
                          </m:sub>
                        </m:sSub>
                        <m:r>
                          <a:rPr lang="ru-RU" sz="17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17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𝒐</m:t>
                            </m:r>
                          </m:sub>
                        </m:sSub>
                      </m:e>
                    </m:d>
                    <m:r>
                      <a:rPr lang="ru-RU" sz="1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7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ru-RU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ru-RU" sz="17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ru-RU" sz="17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17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ru-RU" sz="17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ru-RU" sz="17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70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17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7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ru-RU" sz="17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𝑝𝑠</m:t>
                                </m:r>
                              </m:sub>
                            </m:s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ru-RU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ru-RU" sz="17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7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700" b="1" i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7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Закон сохранения массы парафина</a:t>
                </a: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900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ru-RU" sz="19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ru-RU" sz="1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900" i="1">
                        <a:latin typeface="Cambria Math" panose="02040503050406030204" pitchFamily="18" charset="0"/>
                      </a:rPr>
                      <m:t>𝛻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sub>
                        </m:sSub>
                      </m:e>
                    </m:d>
                    <m:r>
                      <a:rPr lang="ru-RU" sz="1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900" i="1">
                        <a:latin typeface="Cambria Math" panose="02040503050406030204" pitchFamily="18" charset="0"/>
                      </a:rPr>
                      <m:t>𝛻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sSub>
                      <m:sSubPr>
                        <m:ctrlPr>
                          <a:rPr lang="ru-RU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sSub>
                      <m:sSubPr>
                        <m:ctrlPr>
                          <a:rPr lang="ru-RU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9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  </m:t>
                    </m:r>
                    <m:r>
                      <a:rPr lang="ru-RU" sz="19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где</m:t>
                    </m:r>
                    <m:r>
                      <a:rPr lang="ru-RU" sz="19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ru-RU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9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9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Закон сохранения энергии</a:t>
                </a:r>
                <a:endParaRPr lang="en-US" sz="19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00"/>
                  </a:spcAft>
                  <a:tabLst>
                    <a:tab pos="2970530" algn="ctr"/>
                    <a:tab pos="5940425" algn="r"/>
                  </a:tabLst>
                </a:pPr>
                <a:r>
                  <a:rPr lang="ru-RU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2000" i="1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  <m:f>
                      <m:f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  </m:t>
                    </m:r>
                    <m:r>
                      <a:rPr lang="ru-RU" sz="2000"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где</m:t>
                    </m:r>
                    <m:r>
                      <a:rPr lang="ru-RU" sz="2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ru-RU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sz="2000" b="1" dirty="0"/>
                  <a:t>  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/>
                  <a:t> Закон Дарси</a:t>
                </a:r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6A890B-8C15-42D5-819D-6F5036C7C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63" y="1737839"/>
                <a:ext cx="11658273" cy="3986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4CE0C3-2309-4187-8178-4B5B3DC15705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E0279-9D5E-4BDF-9E9E-C9DD9B1EF355}"/>
              </a:ext>
            </a:extLst>
          </p:cNvPr>
          <p:cNvSpPr txBox="1">
            <a:spLocks/>
          </p:cNvSpPr>
          <p:nvPr/>
        </p:nvSpPr>
        <p:spPr>
          <a:xfrm>
            <a:off x="266863" y="71267"/>
            <a:ext cx="6636054" cy="121680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Законы сохранения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D528187-3394-469B-95A7-AC3E1BA54F02}"/>
              </a:ext>
            </a:extLst>
          </p:cNvPr>
          <p:cNvSpPr/>
          <p:nvPr/>
        </p:nvSpPr>
        <p:spPr>
          <a:xfrm>
            <a:off x="-1" y="5992950"/>
            <a:ext cx="12192001" cy="806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9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CF6FC0-F1BA-4EBB-9AC4-80206768749C}"/>
                  </a:ext>
                </a:extLst>
              </p:cNvPr>
              <p:cNvSpPr txBox="1"/>
              <p:nvPr/>
            </p:nvSpPr>
            <p:spPr>
              <a:xfrm>
                <a:off x="1027195" y="3456441"/>
                <a:ext cx="5196840" cy="1164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mtClean="0"/>
                      <m:t>Скорость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с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ужения порового канала:</a:t>
                </a:r>
                <a:endParaRPr lang="ru-RU" i="1" dirty="0"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𝑝𝑠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ru-RU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  <m:sub>
                                      <m:r>
                                        <a:rPr lang="ru-RU" sz="1800" i="1" smtClean="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ru-RU" sz="18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CF6FC0-F1BA-4EBB-9AC4-802067687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195" y="3456441"/>
                <a:ext cx="5196840" cy="1164037"/>
              </a:xfrm>
              <a:prstGeom prst="rect">
                <a:avLst/>
              </a:prstGeom>
              <a:blipFill>
                <a:blip r:embed="rId3"/>
                <a:stretch>
                  <a:fillRect l="-235" t="-26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7772C1C-4281-4E3D-BEE6-C15E5B06D135}"/>
              </a:ext>
            </a:extLst>
          </p:cNvPr>
          <p:cNvSpPr txBox="1"/>
          <p:nvPr/>
        </p:nvSpPr>
        <p:spPr>
          <a:xfrm>
            <a:off x="221457" y="895299"/>
            <a:ext cx="11493021" cy="2505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tabLst>
                <a:tab pos="5904865" algn="r"/>
                <a:tab pos="9906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допущения: </a:t>
            </a: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eriod"/>
              <a:tabLst>
                <a:tab pos="5904865" algn="r"/>
                <a:tab pos="44958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всех капилляров отношение радиуса горла к радиусу канала одинаково и сохраняется в процессе кольматации частиц;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eriod"/>
              <a:tabLst>
                <a:tab pos="5904865" algn="r"/>
                <a:tab pos="44958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Частицы парафина имеют шарообразную форму и одинаковый размер;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eriod"/>
              <a:tabLst>
                <a:tab pos="5904865" algn="r"/>
                <a:tab pos="44958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Количество оседающих частиц пропорционально их долям в движущейся фазе;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5904865" algn="r"/>
                <a:tab pos="44958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Капилляр полностью блокируется при попадании частиц, если размер частиц не меньше диаметра горловины;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20000"/>
              </a:lnSpc>
              <a:buFont typeface="+mj-lt"/>
              <a:buAutoNum type="arabicPeriod"/>
              <a:tabLst>
                <a:tab pos="5904865" algn="r"/>
                <a:tab pos="44958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Суффози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я (вынос) частиц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не учитывается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F92EBB-1558-4273-8DF3-34E404093957}"/>
                  </a:ext>
                </a:extLst>
              </p:cNvPr>
              <p:cNvSpPr txBox="1"/>
              <p:nvPr/>
            </p:nvSpPr>
            <p:spPr>
              <a:xfrm>
                <a:off x="-385989" y="4545828"/>
                <a:ext cx="7025640" cy="1671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mtClean="0"/>
                        <m:t>Скорость блокирования</m:t>
                      </m:r>
                      <m:r>
                        <m:rPr>
                          <m:nor/>
                        </m:rPr>
                        <a:rPr lang="ru-RU" b="0" i="0" smtClean="0"/>
                        <m:t> </m:t>
                      </m:r>
                      <m:r>
                        <m:rPr>
                          <m:nor/>
                        </m:rPr>
                        <a:rPr lang="ru-RU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m:t>порового канала</m:t>
                      </m:r>
                      <m:r>
                        <m:rPr>
                          <m:nor/>
                        </m:rPr>
                        <a:rPr lang="ru-RU" b="0" dirty="0" smtClean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m:t>:</m:t>
                      </m:r>
                    </m:oMath>
                  </m:oMathPara>
                </a14:m>
                <a:endParaRPr lang="ru-RU" b="0" dirty="0">
                  <a:latin typeface="Cambria Math" panose="02040503050406030204" pitchFamily="18" charset="0"/>
                  <a:ea typeface="Calibri" panose="020F0502020204030204" pitchFamily="34" charset="0"/>
                </a:endParaRPr>
              </a:p>
              <a:p>
                <a:endParaRPr lang="ru-RU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r>
                  <a:rPr lang="ru-RU" dirty="0">
                    <a:solidFill>
                      <a:srgbClr val="836967"/>
                    </a:solidFill>
                  </a:rPr>
                  <a:t>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𝜗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𝑝𝑠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ru-RU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  <m:sup>
                                        <m:r>
                                          <a:rPr lang="ru-RU" i="0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ru-RU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  <m:sub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, 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den>
                                </m:f>
                              </m:e>
                            </m:d>
                          </m:e>
                          <m:e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&amp;0,            </m:t>
                            </m:r>
                            <m:d>
                              <m:d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f>
                                  <m:f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F92EBB-1558-4273-8DF3-34E404093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5989" y="4545828"/>
                <a:ext cx="7025640" cy="1671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F2944C6-342B-45F4-855B-6E244364CE42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242B4-E6E1-483D-BD37-E3E1824D3513}"/>
              </a:ext>
            </a:extLst>
          </p:cNvPr>
          <p:cNvSpPr txBox="1">
            <a:spLocks/>
          </p:cNvSpPr>
          <p:nvPr/>
        </p:nvSpPr>
        <p:spPr>
          <a:xfrm>
            <a:off x="320108" y="107527"/>
            <a:ext cx="9299116" cy="84744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пористой среды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A522C82-2BA6-4A2C-A1DC-BBDEFA244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065" y="3200042"/>
            <a:ext cx="4976291" cy="150889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AE0B428-EAFC-4B7C-A686-670CA2CA98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035" y="4627380"/>
            <a:ext cx="4976291" cy="1508891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6362A9-4910-4EFB-B241-F0263B0EFB41}"/>
              </a:ext>
            </a:extLst>
          </p:cNvPr>
          <p:cNvSpPr/>
          <p:nvPr/>
        </p:nvSpPr>
        <p:spPr>
          <a:xfrm>
            <a:off x="-1" y="6217822"/>
            <a:ext cx="12192001" cy="581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28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BBC3CB-29BE-4B3D-825B-F5285DFEEBC0}"/>
                  </a:ext>
                </a:extLst>
              </p:cNvPr>
              <p:cNvSpPr txBox="1"/>
              <p:nvPr/>
            </p:nvSpPr>
            <p:spPr>
              <a:xfrm>
                <a:off x="2255250" y="1751382"/>
                <a:ext cx="6096000" cy="629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BBC3CB-29BE-4B3D-825B-F5285DFEE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250" y="1751382"/>
                <a:ext cx="6096000" cy="6298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052C24-81DC-4A3B-89EA-C5028628AF14}"/>
                  </a:ext>
                </a:extLst>
              </p:cNvPr>
              <p:cNvSpPr txBox="1"/>
              <p:nvPr/>
            </p:nvSpPr>
            <p:spPr>
              <a:xfrm>
                <a:off x="314632" y="3379488"/>
                <a:ext cx="4517136" cy="69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052C24-81DC-4A3B-89EA-C5028628A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32" y="3379488"/>
                <a:ext cx="4517136" cy="691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ECA6FF-8EAC-4B72-BAD1-4F7532933573}"/>
                  </a:ext>
                </a:extLst>
              </p:cNvPr>
              <p:cNvSpPr txBox="1"/>
              <p:nvPr/>
            </p:nvSpPr>
            <p:spPr>
              <a:xfrm>
                <a:off x="6306165" y="3429000"/>
                <a:ext cx="3706368" cy="691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ECA6FF-8EAC-4B72-BAD1-4F7532933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165" y="3429000"/>
                <a:ext cx="3706368" cy="691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4236A0-A78D-447C-B59D-FD5E57D9E8FD}"/>
                  </a:ext>
                </a:extLst>
              </p:cNvPr>
              <p:cNvSpPr txBox="1"/>
              <p:nvPr/>
            </p:nvSpPr>
            <p:spPr>
              <a:xfrm>
                <a:off x="1206292" y="5074924"/>
                <a:ext cx="6096000" cy="8702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𝜗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4236A0-A78D-447C-B59D-FD5E57D9E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292" y="5074924"/>
                <a:ext cx="6096000" cy="8702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527CF01F-B188-4DB5-AF88-0055BBFF0FB8}"/>
              </a:ext>
            </a:extLst>
          </p:cNvPr>
          <p:cNvSpPr txBox="1"/>
          <p:nvPr/>
        </p:nvSpPr>
        <p:spPr>
          <a:xfrm>
            <a:off x="469976" y="4421897"/>
            <a:ext cx="6120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latin typeface="Times New Roman" panose="02020603050405020304" pitchFamily="18" charset="0"/>
              </a:rPr>
              <a:t>Интенсивность массообмена:</a:t>
            </a:r>
            <a:endParaRPr lang="ru-RU" sz="2400" u="sng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13BA0F-0C72-4613-9186-71E981B5AD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39274">
            <a:off x="2402445" y="1622120"/>
            <a:ext cx="1616114" cy="253243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A8F385A-111F-45AB-9DFC-A0B93AC3B4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65734">
            <a:off x="6471980" y="1560853"/>
            <a:ext cx="1660625" cy="2568062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60EAF16-BBF4-48CD-91FA-7867FD75BE5D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0B755-1E72-451D-8315-26ED38737D17}"/>
              </a:ext>
            </a:extLst>
          </p:cNvPr>
          <p:cNvSpPr txBox="1"/>
          <p:nvPr/>
        </p:nvSpPr>
        <p:spPr>
          <a:xfrm>
            <a:off x="98803" y="249689"/>
            <a:ext cx="9605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</a:t>
            </a:r>
            <a:r>
              <a:rPr lang="ru-RU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труктурные изменения пористой среды</a:t>
            </a:r>
            <a:r>
              <a:rPr lang="en-US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 </a:t>
            </a:r>
            <a:r>
              <a:rPr lang="ru-RU" sz="2800" b="1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массообмен</a:t>
            </a:r>
            <a:r>
              <a:rPr lang="ru-RU" sz="2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D75C4-520B-4D39-B77F-6CDB7D7405AE}"/>
              </a:ext>
            </a:extLst>
          </p:cNvPr>
          <p:cNvSpPr txBox="1"/>
          <p:nvPr/>
        </p:nvSpPr>
        <p:spPr>
          <a:xfrm>
            <a:off x="469976" y="1055829"/>
            <a:ext cx="6120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latin typeface="Times New Roman" panose="02020603050405020304" pitchFamily="18" charset="0"/>
              </a:rPr>
              <a:t>Изменение функции пор по размерам:</a:t>
            </a:r>
            <a:endParaRPr lang="ru-RU" sz="2400" u="sng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A01EE43-F86F-4C45-B434-03A28811F8D0}"/>
              </a:ext>
            </a:extLst>
          </p:cNvPr>
          <p:cNvSpPr/>
          <p:nvPr/>
        </p:nvSpPr>
        <p:spPr>
          <a:xfrm>
            <a:off x="-1" y="5992950"/>
            <a:ext cx="12192001" cy="806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23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35BCB18-A476-4021-848C-D9CE078E2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7336" y="1866733"/>
            <a:ext cx="4349098" cy="37277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2391B0D-997C-469A-851B-F15F3428B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6338" y="1998853"/>
            <a:ext cx="4250363" cy="36431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C802FE-644D-42C4-8F9A-AE2D115CF5F7}"/>
                  </a:ext>
                </a:extLst>
              </p:cNvPr>
              <p:cNvSpPr txBox="1"/>
              <p:nvPr/>
            </p:nvSpPr>
            <p:spPr>
              <a:xfrm>
                <a:off x="524256" y="1078775"/>
                <a:ext cx="11305022" cy="728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20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20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черная</a:t>
                </a:r>
                <a:r>
                  <a:rPr lang="ru-RU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линия 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− 5%</m:t>
                    </m:r>
                  </m:oMath>
                </a14:m>
                <a:r>
                  <a:rPr lang="ru-RU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растворенного парафина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ru-RU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КИН=</m:t>
                    </m:r>
                    <m:r>
                      <a:rPr lang="en-US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7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  <m:r>
                      <a:rPr lang="ru-RU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; </m:t>
                    </m:r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459 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сут.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20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красная пунктирная </a:t>
                </a:r>
                <a:r>
                  <a:rPr lang="ru-RU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линия</a:t>
                </a:r>
                <a14:m>
                  <m:oMath xmlns:m="http://schemas.openxmlformats.org/officeDocument/2006/math"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ru-RU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− 0%</m:t>
                    </m:r>
                  </m:oMath>
                </a14:m>
                <a:r>
                  <a:rPr lang="ru-RU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растворенного парафина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КИН=</m:t>
                    </m:r>
                    <m:r>
                      <a:rPr lang="en-US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0.51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</m:t>
                    </m:r>
                    <m:r>
                      <a:rPr lang="ru-RU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;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40 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сут.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C802FE-644D-42C4-8F9A-AE2D115CF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56" y="1078775"/>
                <a:ext cx="11305022" cy="728726"/>
              </a:xfrm>
              <a:prstGeom prst="rect">
                <a:avLst/>
              </a:prstGeom>
              <a:blipFill>
                <a:blip r:embed="rId6"/>
                <a:stretch>
                  <a:fillRect l="-593" t="-6667" b="-141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14">
            <a:extLst>
              <a:ext uri="{FF2B5EF4-FFF2-40B4-BE49-F238E27FC236}">
                <a16:creationId xmlns:a16="http://schemas.microsoft.com/office/drawing/2014/main" id="{AB0325BB-79DC-4ED4-9F35-C22A21B96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4694" y="2310383"/>
            <a:ext cx="143420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5" name="Полотно 18">
            <a:extLst>
              <a:ext uri="{FF2B5EF4-FFF2-40B4-BE49-F238E27FC236}">
                <a16:creationId xmlns:a16="http://schemas.microsoft.com/office/drawing/2014/main" id="{57152C8D-8607-438A-A19A-BA7A8FDB02C8}"/>
              </a:ext>
            </a:extLst>
          </p:cNvPr>
          <p:cNvGrpSpPr>
            <a:grpSpLocks/>
          </p:cNvGrpSpPr>
          <p:nvPr/>
        </p:nvGrpSpPr>
        <p:grpSpPr bwMode="auto">
          <a:xfrm>
            <a:off x="1075683" y="5683507"/>
            <a:ext cx="10625931" cy="457329"/>
            <a:chOff x="-2248" y="24463"/>
            <a:chExt cx="77241" cy="32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Надпись 2">
                  <a:extLst>
                    <a:ext uri="{FF2B5EF4-FFF2-40B4-BE49-F238E27FC236}">
                      <a16:creationId xmlns:a16="http://schemas.microsoft.com/office/drawing/2014/main" id="{F79661D8-E597-4684-BAC7-C7F6F85505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2248" y="24463"/>
                  <a:ext cx="29506" cy="320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0" lang="ru-RU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Дебеты воды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kumimoji="0" lang="en-US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и </a:t>
                  </a:r>
                  <a:r>
                    <a:rPr kumimoji="0" lang="en-US" altLang="ru-RU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нефти</a:t>
                  </a:r>
                  <a:r>
                    <a:rPr kumimoji="0" lang="en-US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a14:m>
                  <a:r>
                    <a:rPr kumimoji="0" lang="en-US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8" name="Надпись 2">
                  <a:extLst>
                    <a:ext uri="{FF2B5EF4-FFF2-40B4-BE49-F238E27FC236}">
                      <a16:creationId xmlns:a16="http://schemas.microsoft.com/office/drawing/2014/main" id="{F79661D8-E597-4684-BAC7-C7F6F8550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2248" y="24463"/>
                  <a:ext cx="29506" cy="3206"/>
                </a:xfrm>
                <a:prstGeom prst="rect">
                  <a:avLst/>
                </a:prstGeom>
                <a:blipFill>
                  <a:blip r:embed="rId7"/>
                  <a:stretch>
                    <a:fillRect t="-6667" b="-1333"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Надпись 2">
                  <a:extLst>
                    <a:ext uri="{FF2B5EF4-FFF2-40B4-BE49-F238E27FC236}">
                      <a16:creationId xmlns:a16="http://schemas.microsoft.com/office/drawing/2014/main" id="{9F9EDB0B-504B-4A3C-AD26-FDDB67D7CBF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87" y="24897"/>
                  <a:ext cx="37706" cy="213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0" lang="ru-RU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Накопленные дебеты воды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a14:m>
                  <a:r>
                    <a:rPr kumimoji="0" lang="en-US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и </a:t>
                  </a:r>
                  <a:r>
                    <a:rPr kumimoji="0" lang="en-US" altLang="ru-RU" b="0" i="0" u="none" strike="noStrike" cap="none" normalizeH="0" baseline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нефти</a:t>
                  </a:r>
                  <a:r>
                    <a:rPr kumimoji="0" lang="en-US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a14:m>
                  <a:r>
                    <a:rPr kumimoji="0" lang="en-US" altLang="ru-RU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kumimoji="0" lang="en-US" altLang="ru-RU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Надпись 2">
                  <a:extLst>
                    <a:ext uri="{FF2B5EF4-FFF2-40B4-BE49-F238E27FC236}">
                      <a16:creationId xmlns:a16="http://schemas.microsoft.com/office/drawing/2014/main" id="{9F9EDB0B-504B-4A3C-AD26-FDDB67D7C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87" y="24897"/>
                  <a:ext cx="37706" cy="2131"/>
                </a:xfrm>
                <a:prstGeom prst="rect">
                  <a:avLst/>
                </a:prstGeom>
                <a:blipFill>
                  <a:blip r:embed="rId8"/>
                  <a:stretch>
                    <a:fillRect t="-10000" b="-52000"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EF794E-7D31-430C-992A-C52733C0E1DC}"/>
                  </a:ext>
                </a:extLst>
              </p:cNvPr>
              <p:cNvSpPr txBox="1"/>
              <p:nvPr/>
            </p:nvSpPr>
            <p:spPr>
              <a:xfrm rot="16200000">
                <a:off x="901883" y="3416283"/>
                <a:ext cx="686329" cy="6286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f>
                        <m:fPr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м</m:t>
                              </m:r>
                            </m:e>
                            <m:sup>
                              <m:r>
                                <a:rPr lang="ru-RU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сут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4EF794E-7D31-430C-992A-C52733C0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01883" y="3416283"/>
                <a:ext cx="686329" cy="628698"/>
              </a:xfrm>
              <a:prstGeom prst="rect">
                <a:avLst/>
              </a:prstGeom>
              <a:blipFill>
                <a:blip r:embed="rId9"/>
                <a:stretch>
                  <a:fillRect t="-17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069F6F-29DC-41B7-ABD4-48488D72039C}"/>
                  </a:ext>
                </a:extLst>
              </p:cNvPr>
              <p:cNvSpPr txBox="1"/>
              <p:nvPr/>
            </p:nvSpPr>
            <p:spPr>
              <a:xfrm rot="16200000">
                <a:off x="5075766" y="3404454"/>
                <a:ext cx="686329" cy="6286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м</m:t>
                              </m:r>
                            </m:e>
                            <m:sup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сут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069F6F-29DC-41B7-ABD4-48488D720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075766" y="3404454"/>
                <a:ext cx="686329" cy="6286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DDF153-B23D-4177-B185-E1D6ED42344B}"/>
                  </a:ext>
                </a:extLst>
              </p:cNvPr>
              <p:cNvSpPr txBox="1"/>
              <p:nvPr/>
            </p:nvSpPr>
            <p:spPr>
              <a:xfrm rot="16200000">
                <a:off x="6445648" y="3434515"/>
                <a:ext cx="888253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ru-RU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e>
                        <m:sup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FDDF153-B23D-4177-B185-E1D6ED42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445648" y="3434515"/>
                <a:ext cx="888253" cy="338554"/>
              </a:xfrm>
              <a:prstGeom prst="rect">
                <a:avLst/>
              </a:prstGeom>
              <a:blipFill>
                <a:blip r:embed="rId11"/>
                <a:stretch>
                  <a:fillRect r="-53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9CFED55-41AC-4982-9C60-6C730DCF3F3E}"/>
                  </a:ext>
                </a:extLst>
              </p:cNvPr>
              <p:cNvSpPr txBox="1"/>
              <p:nvPr/>
            </p:nvSpPr>
            <p:spPr>
              <a:xfrm rot="16200000">
                <a:off x="10590710" y="3296642"/>
                <a:ext cx="997052" cy="3441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60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м</m:t>
                          </m:r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9CFED55-41AC-4982-9C60-6C730DCF3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590710" y="3296642"/>
                <a:ext cx="997052" cy="344133"/>
              </a:xfrm>
              <a:prstGeom prst="rect">
                <a:avLst/>
              </a:prstGeom>
              <a:blipFill>
                <a:blip r:embed="rId12"/>
                <a:stretch>
                  <a:fillRect r="-53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D46AA5F-D8D9-4B21-A9CC-D7066B2673C7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90851-3B4C-4BCD-8FD2-551C85EDFED5}"/>
              </a:ext>
            </a:extLst>
          </p:cNvPr>
          <p:cNvSpPr txBox="1"/>
          <p:nvPr/>
        </p:nvSpPr>
        <p:spPr>
          <a:xfrm>
            <a:off x="280416" y="186678"/>
            <a:ext cx="10445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Графики показателей работы добывающей скважины</a:t>
            </a:r>
            <a:endParaRPr lang="ru-RU" sz="32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8360E-9B54-4EA9-9543-5B5356A87A45}"/>
                  </a:ext>
                </a:extLst>
              </p:cNvPr>
              <p:cNvSpPr txBox="1"/>
              <p:nvPr/>
            </p:nvSpPr>
            <p:spPr>
              <a:xfrm>
                <a:off x="3887263" y="2341721"/>
                <a:ext cx="64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8360E-9B54-4EA9-9543-5B5356A87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263" y="2341721"/>
                <a:ext cx="641405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4B75CE-4F4A-4B79-993C-0A66E3776518}"/>
                  </a:ext>
                </a:extLst>
              </p:cNvPr>
              <p:cNvSpPr txBox="1"/>
              <p:nvPr/>
            </p:nvSpPr>
            <p:spPr>
              <a:xfrm>
                <a:off x="1944296" y="2397587"/>
                <a:ext cx="64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4B75CE-4F4A-4B79-993C-0A66E3776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296" y="2397587"/>
                <a:ext cx="641405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A1C83B-7256-4116-94B2-59D1EF4D1ADD}"/>
                  </a:ext>
                </a:extLst>
              </p:cNvPr>
              <p:cNvSpPr txBox="1"/>
              <p:nvPr/>
            </p:nvSpPr>
            <p:spPr>
              <a:xfrm>
                <a:off x="9552029" y="3202801"/>
                <a:ext cx="64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A1C83B-7256-4116-94B2-59D1EF4D1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029" y="3202801"/>
                <a:ext cx="641405" cy="369332"/>
              </a:xfrm>
              <a:prstGeom prst="rect">
                <a:avLst/>
              </a:prstGeom>
              <a:blipFill>
                <a:blip r:embed="rId1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4E4CF-8476-4107-B57C-8C1C0E6A67AC}"/>
                  </a:ext>
                </a:extLst>
              </p:cNvPr>
              <p:cNvSpPr txBox="1"/>
              <p:nvPr/>
            </p:nvSpPr>
            <p:spPr>
              <a:xfrm>
                <a:off x="8971885" y="2080070"/>
                <a:ext cx="64140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D24E4CF-8476-4107-B57C-8C1C0E6A6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885" y="2080070"/>
                <a:ext cx="641405" cy="369332"/>
              </a:xfrm>
              <a:prstGeom prst="rect">
                <a:avLst/>
              </a:prstGeom>
              <a:blipFill>
                <a:blip r:embed="rId1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8AA8397-6C01-472B-ADD8-F2A5C42DD078}"/>
              </a:ext>
            </a:extLst>
          </p:cNvPr>
          <p:cNvSpPr/>
          <p:nvPr/>
        </p:nvSpPr>
        <p:spPr>
          <a:xfrm>
            <a:off x="-1" y="6126970"/>
            <a:ext cx="12192001" cy="672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1FA1C-8408-45EE-8EE2-B36182243023}"/>
                  </a:ext>
                </a:extLst>
              </p:cNvPr>
              <p:cNvSpPr txBox="1"/>
              <p:nvPr/>
            </p:nvSpPr>
            <p:spPr>
              <a:xfrm>
                <a:off x="2978675" y="5453397"/>
                <a:ext cx="58748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сут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71FA1C-8408-45EE-8EE2-B3618224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675" y="5453397"/>
                <a:ext cx="587486" cy="338554"/>
              </a:xfrm>
              <a:prstGeom prst="rect">
                <a:avLst/>
              </a:prstGeom>
              <a:blipFill>
                <a:blip r:embed="rId17"/>
                <a:stretch>
                  <a:fillRect r="-6250" b="-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ECC480-D38E-45B7-B06E-12E8417FB9D4}"/>
                  </a:ext>
                </a:extLst>
              </p:cNvPr>
              <p:cNvSpPr txBox="1"/>
              <p:nvPr/>
            </p:nvSpPr>
            <p:spPr>
              <a:xfrm>
                <a:off x="8601929" y="5406862"/>
                <a:ext cx="58748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сут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ECC480-D38E-45B7-B06E-12E8417FB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929" y="5406862"/>
                <a:ext cx="587486" cy="338554"/>
              </a:xfrm>
              <a:prstGeom prst="rect">
                <a:avLst/>
              </a:prstGeom>
              <a:blipFill>
                <a:blip r:embed="rId18"/>
                <a:stretch>
                  <a:fillRect r="-6250" b="-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79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4EA0F24-57BD-4EA7-9225-2BECEE113171}"/>
              </a:ext>
            </a:extLst>
          </p:cNvPr>
          <p:cNvSpPr txBox="1"/>
          <p:nvPr/>
        </p:nvSpPr>
        <p:spPr>
          <a:xfrm>
            <a:off x="6092677" y="4288858"/>
            <a:ext cx="2401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момент достижения обводненности 98%</a:t>
            </a:r>
          </a:p>
          <a:p>
            <a:r>
              <a:rPr lang="ru-RU" dirty="0">
                <a:latin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1460</a:t>
            </a:r>
            <a:r>
              <a:rPr lang="en-US" dirty="0">
                <a:latin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сут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</a:rPr>
              <a:t>18</a:t>
            </a:r>
            <a:r>
              <a:rPr lang="en-US" dirty="0">
                <a:latin typeface="Times New Roman" panose="02020603050405020304" pitchFamily="18" charset="0"/>
              </a:rPr>
              <a:t>40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</a:rPr>
              <a:t>сут</a:t>
            </a:r>
            <a:r>
              <a:rPr lang="ru-RU" dirty="0">
                <a:latin typeface="Times New Roman" panose="02020603050405020304" pitchFamily="18" charset="0"/>
              </a:rPr>
              <a:t>.)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C802FE-644D-42C4-8F9A-AE2D115CF5F7}"/>
                  </a:ext>
                </a:extLst>
              </p:cNvPr>
              <p:cNvSpPr txBox="1"/>
              <p:nvPr/>
            </p:nvSpPr>
            <p:spPr>
              <a:xfrm>
                <a:off x="356321" y="989690"/>
                <a:ext cx="6840891" cy="665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8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черная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линия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− 5%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растворенного парафина</a:t>
                </a:r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красная пунктирная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линия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− 0%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растворенного парафина</a:t>
                </a:r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C802FE-644D-42C4-8F9A-AE2D115CF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21" y="989690"/>
                <a:ext cx="6840891" cy="665118"/>
              </a:xfrm>
              <a:prstGeom prst="rect">
                <a:avLst/>
              </a:prstGeom>
              <a:blipFill>
                <a:blip r:embed="rId2"/>
                <a:stretch>
                  <a:fillRect l="-712" t="-5505" b="-137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8B5F423-D258-4C97-871A-9B99C31BC835}"/>
              </a:ext>
            </a:extLst>
          </p:cNvPr>
          <p:cNvSpPr txBox="1"/>
          <p:nvPr/>
        </p:nvSpPr>
        <p:spPr>
          <a:xfrm>
            <a:off x="6033684" y="1973175"/>
            <a:ext cx="2523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момент прорыва воды к добывающей скважине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187 </a:t>
            </a:r>
            <a:r>
              <a:rPr lang="ru-RU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сут</a:t>
            </a:r>
            <a:r>
              <a:rPr lang="ru-RU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189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сут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.)</a:t>
            </a:r>
            <a:endParaRPr lang="ru-RU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C64FE0B-8FD0-4728-A938-2AFF24E3A141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90851-3B4C-4BCD-8FD2-551C85EDFED5}"/>
              </a:ext>
            </a:extLst>
          </p:cNvPr>
          <p:cNvSpPr txBox="1"/>
          <p:nvPr/>
        </p:nvSpPr>
        <p:spPr>
          <a:xfrm>
            <a:off x="278450" y="183484"/>
            <a:ext cx="5211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Поле температуры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66CA7AC-DC32-4292-AE06-550B05019B63}"/>
              </a:ext>
            </a:extLst>
          </p:cNvPr>
          <p:cNvSpPr/>
          <p:nvPr/>
        </p:nvSpPr>
        <p:spPr>
          <a:xfrm>
            <a:off x="-1" y="6134038"/>
            <a:ext cx="12192001" cy="6651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DE074F-311B-40CE-9959-741CED565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7427" y="1048137"/>
            <a:ext cx="2861187" cy="245244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6D867D-FF18-4D35-B3B4-A33476C9B8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7428" y="3893126"/>
            <a:ext cx="2861187" cy="245244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C37BCE-691E-4CD9-BE7E-3343064921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37" y="2062957"/>
            <a:ext cx="4749595" cy="407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36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F5A8599-252C-41B5-904A-A02A2240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163" y="2046223"/>
            <a:ext cx="1611140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476D9DF-5226-4536-AFD2-B2487C9E279F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DDECC-35A0-4B22-9DAC-6F85DD990BFE}"/>
              </a:ext>
            </a:extLst>
          </p:cNvPr>
          <p:cNvSpPr txBox="1"/>
          <p:nvPr/>
        </p:nvSpPr>
        <p:spPr>
          <a:xfrm>
            <a:off x="189942" y="155860"/>
            <a:ext cx="8025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Изменение ФЕС пористой среды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2D8A7D9-1A1A-4136-B5FA-D48CF29DB62A}"/>
              </a:ext>
            </a:extLst>
          </p:cNvPr>
          <p:cNvSpPr/>
          <p:nvPr/>
        </p:nvSpPr>
        <p:spPr>
          <a:xfrm>
            <a:off x="-1" y="6161022"/>
            <a:ext cx="12192001" cy="638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18" name="Надпись 2">
            <a:extLst>
              <a:ext uri="{FF2B5EF4-FFF2-40B4-BE49-F238E27FC236}">
                <a16:creationId xmlns:a16="http://schemas.microsoft.com/office/drawing/2014/main" id="{69157411-8955-4D35-AB96-0C46C5F30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308" y="5977348"/>
            <a:ext cx="5322480" cy="53905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Множитель пористости</a:t>
            </a:r>
            <a:endParaRPr kumimoji="0" lang="ru-RU" altLang="ru-RU" sz="2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Надпись 2">
            <a:extLst>
              <a:ext uri="{FF2B5EF4-FFF2-40B4-BE49-F238E27FC236}">
                <a16:creationId xmlns:a16="http://schemas.microsoft.com/office/drawing/2014/main" id="{F63C9362-B6F7-4B9D-8B33-1B2F3A7F6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154" y="5977348"/>
            <a:ext cx="5322480" cy="6263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Множитель абсолютной проницаемости</a:t>
            </a:r>
            <a:endParaRPr kumimoji="0" lang="ru-RU" altLang="ru-R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1CBA17B-FF6C-4C90-9F57-CA30465D6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0" y="1172908"/>
            <a:ext cx="5528680" cy="473886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D83B74C-AB63-4F84-BDE0-4C1AFF143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160" y="1172908"/>
            <a:ext cx="5528679" cy="473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F5A8599-252C-41B5-904A-A02A2240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247" y="2005583"/>
            <a:ext cx="1611140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AEBEA7D-CE85-4725-84E7-CA970BD5671A}"/>
              </a:ext>
            </a:extLst>
          </p:cNvPr>
          <p:cNvSpPr/>
          <p:nvPr/>
        </p:nvSpPr>
        <p:spPr>
          <a:xfrm>
            <a:off x="-1" y="0"/>
            <a:ext cx="12290323" cy="806206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DDECC-35A0-4B22-9DAC-6F85DD990BFE}"/>
              </a:ext>
            </a:extLst>
          </p:cNvPr>
          <p:cNvSpPr txBox="1"/>
          <p:nvPr/>
        </p:nvSpPr>
        <p:spPr>
          <a:xfrm>
            <a:off x="252618" y="184913"/>
            <a:ext cx="90742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Структурные изменения пористой среды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8E1625C-EAEC-4F33-A9FB-179DA60B7060}"/>
              </a:ext>
            </a:extLst>
          </p:cNvPr>
          <p:cNvSpPr/>
          <p:nvPr/>
        </p:nvSpPr>
        <p:spPr>
          <a:xfrm>
            <a:off x="-1" y="6199174"/>
            <a:ext cx="12192001" cy="599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948EB3-039D-4B57-AF73-D2A69EB7A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05" y="2351405"/>
            <a:ext cx="714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9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8CAF5B5-09D8-44F0-8F8A-1138261F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F6CC2-39B4-4E3F-9986-622BFC31D2F7}" type="slidenum">
              <a:rPr lang="en-US" smtClean="0"/>
              <a:t>10</a:t>
            </a:fld>
            <a:endParaRPr lang="en-US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B3CF97B-66D1-44D1-8EF7-296187C6AEFF}"/>
              </a:ext>
            </a:extLst>
          </p:cNvPr>
          <p:cNvSpPr/>
          <p:nvPr/>
        </p:nvSpPr>
        <p:spPr>
          <a:xfrm>
            <a:off x="0" y="0"/>
            <a:ext cx="12290323" cy="68580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31EBFC-2619-4053-BA7A-A6258A9136F0}"/>
              </a:ext>
            </a:extLst>
          </p:cNvPr>
          <p:cNvSpPr txBox="1">
            <a:spLocks/>
          </p:cNvSpPr>
          <p:nvPr/>
        </p:nvSpPr>
        <p:spPr>
          <a:xfrm>
            <a:off x="2236544" y="2955994"/>
            <a:ext cx="8877840" cy="4730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330491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493</Words>
  <Application>Microsoft Office PowerPoint</Application>
  <PresentationFormat>Широкоэкранный</PresentationFormat>
  <Paragraphs>74</Paragraphs>
  <Slides>10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Cambria Math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Дилара Салимьянова</dc:creator>
  <cp:lastModifiedBy>Игорь</cp:lastModifiedBy>
  <cp:revision>58</cp:revision>
  <dcterms:created xsi:type="dcterms:W3CDTF">2025-08-30T11:45:18Z</dcterms:created>
  <dcterms:modified xsi:type="dcterms:W3CDTF">2026-02-12T21:05:15Z</dcterms:modified>
</cp:coreProperties>
</file>